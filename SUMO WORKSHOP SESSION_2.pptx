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99" r:id="rId4"/>
    <p:sldId id="300" r:id="rId5"/>
    <p:sldId id="301" r:id="rId6"/>
    <p:sldId id="266" r:id="rId7"/>
    <p:sldId id="303" r:id="rId8"/>
    <p:sldId id="309" r:id="rId9"/>
    <p:sldId id="310" r:id="rId10"/>
    <p:sldId id="265" r:id="rId11"/>
    <p:sldId id="305" r:id="rId12"/>
    <p:sldId id="304" r:id="rId13"/>
    <p:sldId id="306" r:id="rId14"/>
    <p:sldId id="307" r:id="rId15"/>
    <p:sldId id="308" r:id="rId16"/>
    <p:sldId id="31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1026"/>
    <a:srgbClr val="A3001A"/>
    <a:srgbClr val="9E0D1B"/>
    <a:srgbClr val="431A35"/>
    <a:srgbClr val="5D2462"/>
    <a:srgbClr val="391935"/>
    <a:srgbClr val="93061A"/>
    <a:srgbClr val="9B41AD"/>
    <a:srgbClr val="642A70"/>
    <a:srgbClr val="642A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B668-8900-4B50-4C04-A43A7332E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4454D-E23B-1296-73AF-DDE3F9DB68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25AFB-1B5A-7910-60AD-5685FD07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EBED7-1280-2471-FFA3-DE860344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5C996-B3D2-3F9B-4D5A-81B73867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6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6E0F-3787-F3C7-AE61-A92A86C9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ABF5C-0907-FCAE-74AA-0329D1E9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569F-0D6A-5993-2040-7E600D5A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F61B-C1D1-A768-9E8E-9CFBF160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92925-ED49-A46E-0F38-CF2834D2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9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57DE-E537-616A-CD11-8BDB373B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7B45B-87CF-C4BD-06F5-A2E9BECEC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616C-377E-8E19-1F0D-0E87F4B5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3BD16-FB51-8094-E5E6-9D3A663C4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0EDB6-3A58-2FBD-F675-E9B58B83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86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FD11-87EE-6C3A-37F2-89659B27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E9D18-67F4-CEAF-D8A1-50E4EB804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37773-0C14-0235-0ED9-745179721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C1191-F361-D372-2D19-670D9B7E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AF96E-8655-7BD7-CC05-2AAAA7107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2EB8A-8921-DF93-3A6C-A8DDA3FE0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F014D-B3F0-4AB7-E765-2109F463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BDC46-0AD4-68BF-2716-67542BCFF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A9742-5C97-6FB3-B06F-4229608E1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646EE-7E4C-1805-CE6B-AE40AC2DF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31D20-10E4-7D04-5657-F7EF5FD947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A62D9-8059-497F-5CF0-8325F698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A565E-A758-E730-E19A-5D042080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1F9B6-A659-D353-5666-7198ED7D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5E360-87EA-0656-6224-CE601FF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056CB8-F791-71F9-0339-4F1D803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3BBD0-80CB-D71F-9D4E-17BB3AD2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7B144-87C0-BF8C-BEE5-C2D2EFF9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69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9484E-A5B2-2F50-9342-F4FCAE21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7492B-6E69-0097-C38C-F76635D1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4FD11-53EA-1EE7-EF11-7B7E9E68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6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D480-B9DB-27C9-8592-6B6282F06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C679E-5B17-6591-8330-51DCE1AB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436A2-2BC8-E86C-9CF6-07B0DF182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3A243-28B3-3952-6E37-AE86016E8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85A6-F84A-CB87-61A2-B114A359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A3227-A960-DF34-0AA5-2866CFE1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76D8-7FDB-CD42-FC35-425D0A4E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0CDEF9-33B3-E432-BA38-62AC8D8FFF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78672-6049-E996-62C5-CA49EB985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CB3D8-336D-E921-FAE6-FCBD6F4BC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8B178-BD5F-21BF-EE09-353A3A22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1BC66-67F2-307A-482B-38FEB6AF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7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0F0A-BE09-2E26-F7C0-3E5986E5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4FFC2-471F-00C5-E80E-7BFD5A462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C7F8-E951-35C6-2918-F316E7A1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8CF57-1ADA-6DA7-C927-875D1987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9C53-FD01-D507-C411-B4144D45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6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A7AD1-4821-7C8B-A0AA-3E694224D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B696AA-7FA3-4A9F-1883-C2BBA97FD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C825-22D0-3B88-E1B5-06E70A45B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FD7A1-9D2E-487E-F022-0B589B8C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A0AB6-4412-1F14-F5D1-C26D1DD9F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8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96022-243C-C8D3-43DF-A5A7198C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1294B-FE70-9C02-4A48-7A5D2A8E0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49FBC-559C-AD7E-297C-27196B23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DF759-D400-4315-B5D0-1BE4F17B867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167EC-75DF-401D-06BF-EFF5CE943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425C5-AADA-067C-0CFA-61306B19B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F543C-DDBA-4596-B20E-399D1BF27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5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gif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32">
            <a:extLst>
              <a:ext uri="{FF2B5EF4-FFF2-40B4-BE49-F238E27FC236}">
                <a16:creationId xmlns:a16="http://schemas.microsoft.com/office/drawing/2014/main" id="{CDEF59CF-59B2-11A9-2C41-EE8ACB8FD2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919" y="1159027"/>
            <a:ext cx="7400082" cy="4431817"/>
          </a:xfrm>
          <a:prstGeom prst="rect">
            <a:avLst/>
          </a:prstGeom>
          <a:effectLst>
            <a:softEdge rad="825500"/>
          </a:effectLst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EC0AFD09-80D1-C423-0B3D-8E1C57C292C9}"/>
              </a:ext>
            </a:extLst>
          </p:cNvPr>
          <p:cNvSpPr/>
          <p:nvPr/>
        </p:nvSpPr>
        <p:spPr>
          <a:xfrm>
            <a:off x="1238639" y="5539529"/>
            <a:ext cx="12362206" cy="348546"/>
          </a:xfrm>
          <a:prstGeom prst="rect">
            <a:avLst/>
          </a:prstGeom>
          <a:gradFill flip="none" rotWithShape="1">
            <a:gsLst>
              <a:gs pos="100000">
                <a:srgbClr val="4F1935"/>
              </a:gs>
              <a:gs pos="0">
                <a:srgbClr val="93061A"/>
              </a:gs>
              <a:gs pos="52000">
                <a:srgbClr val="431A3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26DE008-67B6-1250-5FC0-7DB1ABC2DE83}"/>
              </a:ext>
            </a:extLst>
          </p:cNvPr>
          <p:cNvGrpSpPr/>
          <p:nvPr/>
        </p:nvGrpSpPr>
        <p:grpSpPr>
          <a:xfrm>
            <a:off x="-2359017" y="3701281"/>
            <a:ext cx="4151476" cy="3444240"/>
            <a:chOff x="-2359017" y="3701281"/>
            <a:chExt cx="4151476" cy="344424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44A249BA-19C0-D2B5-D3CE-D4437BEED103}"/>
                </a:ext>
              </a:extLst>
            </p:cNvPr>
            <p:cNvSpPr/>
            <p:nvPr/>
          </p:nvSpPr>
          <p:spPr>
            <a:xfrm rot="2700000">
              <a:off x="-1941156" y="4716166"/>
              <a:ext cx="3444240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33E2C0E5-953B-B298-D21A-6D0EB7D845ED}"/>
                </a:ext>
              </a:extLst>
            </p:cNvPr>
            <p:cNvSpPr/>
            <p:nvPr/>
          </p:nvSpPr>
          <p:spPr>
            <a:xfrm>
              <a:off x="-2359017" y="5105711"/>
              <a:ext cx="3444240" cy="100554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4CFBD66-EBE1-4345-3655-AF663DE4622C}"/>
                </a:ext>
              </a:extLst>
            </p:cNvPr>
            <p:cNvSpPr/>
            <p:nvPr/>
          </p:nvSpPr>
          <p:spPr>
            <a:xfrm rot="2700000">
              <a:off x="370583" y="5404016"/>
              <a:ext cx="1429281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628CF6D-179B-A8FE-752D-5C8F8EEE9304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FD96E48-2CFC-B47B-C079-12BFA0B9837E}"/>
              </a:ext>
            </a:extLst>
          </p:cNvPr>
          <p:cNvGrpSpPr/>
          <p:nvPr/>
        </p:nvGrpSpPr>
        <p:grpSpPr>
          <a:xfrm>
            <a:off x="10360666" y="-2978831"/>
            <a:ext cx="4297574" cy="5613977"/>
            <a:chOff x="10360666" y="-2978831"/>
            <a:chExt cx="4297574" cy="561397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21F355-FDA7-BBD8-291E-453FD18CC821}"/>
                </a:ext>
              </a:extLst>
            </p:cNvPr>
            <p:cNvSpPr/>
            <p:nvPr/>
          </p:nvSpPr>
          <p:spPr>
            <a:xfrm rot="18900000">
              <a:off x="10360666" y="-2978831"/>
              <a:ext cx="3155462" cy="5613977"/>
            </a:xfrm>
            <a:prstGeom prst="rect">
              <a:avLst/>
            </a:prstGeom>
            <a:gradFill>
              <a:gsLst>
                <a:gs pos="100000">
                  <a:srgbClr val="8C1E33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iagonal Stripe 20">
              <a:extLst>
                <a:ext uri="{FF2B5EF4-FFF2-40B4-BE49-F238E27FC236}">
                  <a16:creationId xmlns:a16="http://schemas.microsoft.com/office/drawing/2014/main" id="{2D823F0C-1383-5648-AE62-C8F64529DB22}"/>
                </a:ext>
              </a:extLst>
            </p:cNvPr>
            <p:cNvSpPr/>
            <p:nvPr/>
          </p:nvSpPr>
          <p:spPr>
            <a:xfrm rot="18900000">
              <a:off x="11023285" y="-2530347"/>
              <a:ext cx="3634955" cy="3709132"/>
            </a:xfrm>
            <a:prstGeom prst="diagStrip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496E5D21-E2F6-7746-A54B-DBF0C6C980A5}"/>
                </a:ext>
              </a:extLst>
            </p:cNvPr>
            <p:cNvSpPr/>
            <p:nvPr/>
          </p:nvSpPr>
          <p:spPr>
            <a:xfrm rot="18900000">
              <a:off x="11489477" y="-1456890"/>
              <a:ext cx="2376343" cy="2424836"/>
            </a:xfrm>
            <a:prstGeom prst="diagStripe">
              <a:avLst/>
            </a:prstGeom>
            <a:gradFill>
              <a:gsLst>
                <a:gs pos="100000">
                  <a:srgbClr val="4F2155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C56B0AB-8CBB-62CF-BB62-7676BCEE60C5}"/>
              </a:ext>
            </a:extLst>
          </p:cNvPr>
          <p:cNvGrpSpPr/>
          <p:nvPr/>
        </p:nvGrpSpPr>
        <p:grpSpPr>
          <a:xfrm>
            <a:off x="9275573" y="4569604"/>
            <a:ext cx="2916427" cy="811781"/>
            <a:chOff x="9296400" y="4539482"/>
            <a:chExt cx="2916427" cy="8117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603ECE-041C-324A-6AFA-D05EFF92C910}"/>
                </a:ext>
              </a:extLst>
            </p:cNvPr>
            <p:cNvGrpSpPr/>
            <p:nvPr/>
          </p:nvGrpSpPr>
          <p:grpSpPr>
            <a:xfrm>
              <a:off x="9629530" y="4539482"/>
              <a:ext cx="2471030" cy="487680"/>
              <a:chOff x="6703450" y="4465320"/>
              <a:chExt cx="2471030" cy="48768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761411E-8117-9A55-24A6-0B7ABA0195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6457" y="4465320"/>
                <a:ext cx="1098023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BE84E6DF-557C-FEBC-ED65-BA2D156539ED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430286F-C4D3-A516-4FD3-8520560BCC68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57EB599-B04E-261C-ABB8-661831E1DA75}"/>
                </a:ext>
              </a:extLst>
            </p:cNvPr>
            <p:cNvGrpSpPr/>
            <p:nvPr/>
          </p:nvGrpSpPr>
          <p:grpSpPr>
            <a:xfrm>
              <a:off x="9296400" y="4691882"/>
              <a:ext cx="2916427" cy="487680"/>
              <a:chOff x="6217920" y="4465320"/>
              <a:chExt cx="2916427" cy="4876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D740DFF8-D0FC-41CD-CA06-79F75FD806EE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9117298B-1EC3-8020-D6BD-0EC5FFAEDC27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CA3A0F7-2A19-D661-92E9-C0A25652F6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7920" y="4953000"/>
                <a:ext cx="122830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8A9F2C-CA14-1F63-7AE0-EB720E01DE69}"/>
                </a:ext>
              </a:extLst>
            </p:cNvPr>
            <p:cNvGrpSpPr/>
            <p:nvPr/>
          </p:nvGrpSpPr>
          <p:grpSpPr>
            <a:xfrm>
              <a:off x="11072110" y="5009052"/>
              <a:ext cx="720584" cy="301399"/>
              <a:chOff x="8413763" y="4465320"/>
              <a:chExt cx="720584" cy="301399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9D23135-2AAB-2518-365F-F7CF8AF5D6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9067" y="4465320"/>
                <a:ext cx="33528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EA4641E-7D60-2FD1-E08F-9ED9AA0F21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13763" y="4465320"/>
                <a:ext cx="389500" cy="301399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37AD77E-EB42-F963-724F-A2E17D6C23E4}"/>
                </a:ext>
              </a:extLst>
            </p:cNvPr>
            <p:cNvGrpSpPr/>
            <p:nvPr/>
          </p:nvGrpSpPr>
          <p:grpSpPr>
            <a:xfrm>
              <a:off x="10064553" y="4855461"/>
              <a:ext cx="1875967" cy="495802"/>
              <a:chOff x="7258380" y="4465320"/>
              <a:chExt cx="1875967" cy="495802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A4C7C7B-3C29-F79F-3FF2-FE4D8B2870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6229" y="4465320"/>
                <a:ext cx="508118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C2D2C14D-A9F0-4523-5709-76D37FD730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5996" y="4465320"/>
                <a:ext cx="639493" cy="494845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4BE11FD-CD51-DF25-4F22-7D4B665D36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58380" y="4961122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9BB6212-8087-2373-863A-0CD5C9FB14C4}"/>
              </a:ext>
            </a:extLst>
          </p:cNvPr>
          <p:cNvGrpSpPr/>
          <p:nvPr/>
        </p:nvGrpSpPr>
        <p:grpSpPr>
          <a:xfrm>
            <a:off x="-64382" y="161494"/>
            <a:ext cx="193071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20F6C7B-9806-8F29-C56B-65FE99EC84B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B336720-1AFB-B8F8-8B24-A3A58334847B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52BD360-A301-D56A-1CCD-793922FBBCD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B7ADB17-6D99-3DD5-BB8E-B864F1D38D4A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724C69E-EF68-3F9A-82C9-CF157E80EC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EA35FE5-89B8-3633-F99C-C61D561435C3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3101324-3FC2-929F-B698-041C4D4CA388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8A0640C-3EF1-E305-D4FF-9526F0F0C9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9F5682F-64C5-0FC7-E2CB-CD910C4DB5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206EEAB-59E7-9C13-00F6-E278D09C3CAC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D4C46EA-9FC9-E9E5-E1FA-4E7913B35627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5AEC7A6-B70E-A90F-BD93-FD9753D39BD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490B2FA2-098A-7D9D-7F4C-D4456773FBB4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17907CD-575D-0F2B-A9D4-556E4B97A0A5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E4AB2494-7924-9454-9FE2-DFD4770B4510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1A63542-EE20-8E24-3C79-861D460B27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4E5B1C7-4D65-9BB7-5D6E-3337D1B0DFBC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CC6C3082-CAE1-4BEA-A1BD-B9E8FB0E3F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5ADEDEC-3E61-407A-508B-49AF039409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A0586D9-A07E-591F-4E08-FDA30CFF88E4}"/>
              </a:ext>
            </a:extLst>
          </p:cNvPr>
          <p:cNvGrpSpPr/>
          <p:nvPr/>
        </p:nvGrpSpPr>
        <p:grpSpPr>
          <a:xfrm>
            <a:off x="1238639" y="5157866"/>
            <a:ext cx="1176918" cy="315215"/>
            <a:chOff x="1238639" y="5157866"/>
            <a:chExt cx="1176918" cy="315215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BC7C96C-869D-D77C-76ED-E0E8C12793FB}"/>
                </a:ext>
              </a:extLst>
            </p:cNvPr>
            <p:cNvCxnSpPr>
              <a:cxnSpLocks/>
            </p:cNvCxnSpPr>
            <p:nvPr/>
          </p:nvCxnSpPr>
          <p:spPr>
            <a:xfrm>
              <a:off x="2292096" y="5256314"/>
              <a:ext cx="123461" cy="123461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7262261-3B98-9623-338A-FBCE4E2C8372}"/>
                </a:ext>
              </a:extLst>
            </p:cNvPr>
            <p:cNvCxnSpPr>
              <a:cxnSpLocks/>
            </p:cNvCxnSpPr>
            <p:nvPr/>
          </p:nvCxnSpPr>
          <p:spPr>
            <a:xfrm>
              <a:off x="1238639" y="5157866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88874FE-BD8E-C025-0155-854DCE9DB039}"/>
                </a:ext>
              </a:extLst>
            </p:cNvPr>
            <p:cNvCxnSpPr>
              <a:cxnSpLocks/>
            </p:cNvCxnSpPr>
            <p:nvPr/>
          </p:nvCxnSpPr>
          <p:spPr>
            <a:xfrm>
              <a:off x="1391039" y="5256314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902137B-DCF5-590E-C82E-6A65EEC0084E}"/>
                </a:ext>
              </a:extLst>
            </p:cNvPr>
            <p:cNvCxnSpPr>
              <a:cxnSpLocks/>
            </p:cNvCxnSpPr>
            <p:nvPr/>
          </p:nvCxnSpPr>
          <p:spPr>
            <a:xfrm>
              <a:off x="1519436" y="5369449"/>
              <a:ext cx="620260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176F1A7-F59F-18FC-B15E-63F664EF9FA8}"/>
                </a:ext>
              </a:extLst>
            </p:cNvPr>
            <p:cNvCxnSpPr>
              <a:cxnSpLocks/>
            </p:cNvCxnSpPr>
            <p:nvPr/>
          </p:nvCxnSpPr>
          <p:spPr>
            <a:xfrm>
              <a:off x="1661558" y="5473081"/>
              <a:ext cx="272788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797C8669-901C-58EB-1E2B-E24814DC9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BB17D22E-C79F-12A8-B438-37F4533DD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36" y="280656"/>
            <a:ext cx="4388511" cy="1016729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9E5B478E-9BC8-F46A-3B6D-2D01830C9C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733" y="267243"/>
            <a:ext cx="2452406" cy="891784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6E21497A-19EB-30F0-6C8C-7C12D4557831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8BBE9EEC-0EA9-185F-6F1D-621F5B3EE4C2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7" name="Picture 146">
            <a:extLst>
              <a:ext uri="{FF2B5EF4-FFF2-40B4-BE49-F238E27FC236}">
                <a16:creationId xmlns:a16="http://schemas.microsoft.com/office/drawing/2014/main" id="{6CFC444C-EA72-CB2A-F593-6CF1616C1B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69" y="5888075"/>
            <a:ext cx="2280375" cy="828829"/>
          </a:xfrm>
          <a:prstGeom prst="rect">
            <a:avLst/>
          </a:prstGeom>
        </p:spPr>
      </p:pic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1FE0A5F-C9D9-C27F-BA21-379FFF9BD21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359B92C-67EC-FF69-26B5-37CB517AD32C}"/>
              </a:ext>
            </a:extLst>
          </p:cNvPr>
          <p:cNvCxnSpPr>
            <a:cxnSpLocks/>
          </p:cNvCxnSpPr>
          <p:nvPr/>
        </p:nvCxnSpPr>
        <p:spPr>
          <a:xfrm>
            <a:off x="5058299" y="405841"/>
            <a:ext cx="0" cy="732644"/>
          </a:xfrm>
          <a:prstGeom prst="line">
            <a:avLst/>
          </a:prstGeom>
          <a:ln>
            <a:gradFill>
              <a:gsLst>
                <a:gs pos="0">
                  <a:srgbClr val="391935">
                    <a:alpha val="35000"/>
                  </a:srgbClr>
                </a:gs>
                <a:gs pos="100000">
                  <a:srgbClr val="9306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0A348153-AC3B-B7F4-B906-600E916ACDFB}"/>
              </a:ext>
            </a:extLst>
          </p:cNvPr>
          <p:cNvSpPr txBox="1"/>
          <p:nvPr/>
        </p:nvSpPr>
        <p:spPr>
          <a:xfrm>
            <a:off x="628294" y="1262639"/>
            <a:ext cx="6239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Robotics </a:t>
            </a:r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391935"/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atin typeface="Arial Black" panose="020B0A04020102020204" pitchFamily="34" charset="0"/>
              </a:rPr>
              <a:t>Workshop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3DFF7E5-60FF-E2C8-46E1-D71CB71A90BC}"/>
              </a:ext>
            </a:extLst>
          </p:cNvPr>
          <p:cNvSpPr txBox="1"/>
          <p:nvPr/>
        </p:nvSpPr>
        <p:spPr>
          <a:xfrm>
            <a:off x="678127" y="1896545"/>
            <a:ext cx="443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From Electronics to </a:t>
            </a:r>
          </a:p>
          <a:p>
            <a:r>
              <a:rPr lang="en-US" sz="2800" b="1" dirty="0">
                <a:solidFill>
                  <a:srgbClr val="5D2462"/>
                </a:solidFill>
                <a:latin typeface="Arial Black" panose="020B0A04020102020204" pitchFamily="34" charset="0"/>
              </a:rPr>
              <a:t>Sumo Robot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30C18E10-00E5-8B33-3DE5-A261A02E7A8A}"/>
              </a:ext>
            </a:extLst>
          </p:cNvPr>
          <p:cNvCxnSpPr>
            <a:cxnSpLocks/>
          </p:cNvCxnSpPr>
          <p:nvPr/>
        </p:nvCxnSpPr>
        <p:spPr>
          <a:xfrm>
            <a:off x="804019" y="2850652"/>
            <a:ext cx="1756171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9A92D00-D976-E1F3-932C-03082FA97F20}"/>
              </a:ext>
            </a:extLst>
          </p:cNvPr>
          <p:cNvSpPr txBox="1"/>
          <p:nvPr/>
        </p:nvSpPr>
        <p:spPr>
          <a:xfrm>
            <a:off x="1406744" y="3079303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Microcontrollers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C300D26-074E-6E05-C7F1-94AE03EDD4B7}"/>
              </a:ext>
            </a:extLst>
          </p:cNvPr>
          <p:cNvSpPr txBox="1"/>
          <p:nvPr/>
        </p:nvSpPr>
        <p:spPr>
          <a:xfrm>
            <a:off x="1391038" y="354740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Electronics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0F4B7F5-601C-FAEB-ADFB-3345EFF37F57}"/>
              </a:ext>
            </a:extLst>
          </p:cNvPr>
          <p:cNvSpPr txBox="1"/>
          <p:nvPr/>
        </p:nvSpPr>
        <p:spPr>
          <a:xfrm>
            <a:off x="1391037" y="3975439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Sensors &amp; Motors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6E2F73C-5091-AF18-B455-85F46D315FC0}"/>
              </a:ext>
            </a:extLst>
          </p:cNvPr>
          <p:cNvSpPr txBox="1"/>
          <p:nvPr/>
        </p:nvSpPr>
        <p:spPr>
          <a:xfrm>
            <a:off x="1395169" y="4397408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Sumo Robot Competition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CB247353-7D1F-06DF-DDA3-319EE54741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39" y="2936330"/>
            <a:ext cx="1982257" cy="187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65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81BBB-43FC-4C73-96DD-A262149C0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C84F4-9DF7-F90B-5A8E-A5A9B8E229C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8BBDBD1-B8B6-D1D0-2D5E-E3849AD91997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1F25E45-061F-486E-CFA8-AEDDA0157004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BCF9408-4621-12F5-DD01-C0EB90BFEAE3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8A2F278-0CA6-164D-C540-D890D759264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30F5888-9819-2C27-93EB-5F0F1DEFBD57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92538B8C-F496-97E6-12B1-3595D90F43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2892C67-A252-7EFC-1131-C5FBE8E208FD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08D92A7-78D1-6F3B-DAB0-AAB740F21E39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AE539EAF-940F-996F-F103-EFC7240C38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246399F-0F3F-C9A5-3E04-1E623E47F4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6408118-82D4-6DC9-7ACE-7D4481ACA019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4E31D29-0F0C-A770-4424-8399566988A4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E611499-A21B-0B10-1E75-F789A3852435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74361AB-964D-E28B-7836-7B4F709AB054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E629FBF-E411-BE2F-7611-64014DDB82C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A7B33984-3860-0B9D-79C1-BAA72683EC7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002B444A-BE6A-A1EB-1FE6-66C4463DF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7E1454EE-44A0-2EF1-DC65-39B98E7DAE2B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4459C09-B2BE-FAB0-B63E-71DBABC0D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0CAE17E-0F02-CD72-95CB-BFA8CFD0A9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E823C25E-A430-D720-DA99-BB84C472A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AC90B7C-1497-E051-3E10-8822DCA13331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822C7BC-AAD0-A422-D403-AB2FAD6AA5C3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FEC0E49-E2E8-1A11-48D3-CFD0A2BA94D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01D58DC2-469B-67FA-7BC3-1555CE2A2061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7ABB95-75EB-7842-8C00-E9DDC9DE843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5C09FD-CCA0-20C0-B23F-BE0199DC9A0F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01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EFB436A-4E38-106E-90B6-1F42B6262D30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33121A2-D45F-DABC-0695-9CC6D4091E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8AC11E8D-9E48-045B-F0FE-7E4EE72D6C3D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1A201B4-AFD6-4617-8ABE-97768B3B4B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171E8D5-009B-D4FD-D39F-8566EEA64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E4F26D4-801C-7AA6-62C7-B3F2F07532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87110DA8-E053-DC8E-0F17-2EE1B95C51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4EFE86C-E80F-D1BD-C930-5212D78F74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301529F-1F18-3FE9-5EB2-C09822F56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E8D8EBA6-4958-7CA5-01EB-812D6C0CF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B6CE107-231B-1651-23D2-5B9E3CBFC1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B681BB5-EE7E-C2B9-0E86-FEBA811EB1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28E9847-C16D-641A-C6F7-2578CF7940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BBE3F80-04AA-16F7-E145-A2A64E3D22A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91BA6340-0772-A0E1-E859-05F62C2D6C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EF399ED-3533-DE75-5998-798A4455CCB5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53E0208-C8E0-2214-DD61-CCD368A216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B02ACAF1-A18D-2E4A-380E-6970592CB2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B4C4170C-ABBC-E55A-122E-D31F94F282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48BAAB4-85EF-A3EF-AE58-807EBFC624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14AD444-81BF-8E2F-378C-3C2A389CD1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717F899-BE44-4DE3-6452-08D056C65F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F6C3BFF-D5C6-A2A4-E489-338840AB89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2671BD9-D446-3B1C-F884-0F836F7A66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5F9378B-842D-7570-EF3E-BD5DA277C6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194D354-CBF2-21D5-7252-0835BA92EC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66117D05-6E7A-804B-34DE-8F47715F8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FA6227-C6B9-BE1D-C2AE-76B9A7C55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B13C18-03E0-16F5-2E42-6ACAE4B54B44}"/>
              </a:ext>
            </a:extLst>
          </p:cNvPr>
          <p:cNvSpPr txBox="1"/>
          <p:nvPr/>
        </p:nvSpPr>
        <p:spPr>
          <a:xfrm>
            <a:off x="460556" y="836815"/>
            <a:ext cx="76873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5D2462"/>
                </a:solidFill>
                <a:latin typeface="Arial"/>
              </a:defRPr>
            </a:pPr>
            <a:r>
              <a:rPr sz="2800" dirty="0">
                <a:latin typeface="Aptos Black" panose="020F0502020204030204" pitchFamily="34" charset="0"/>
              </a:rPr>
              <a:t>Why Connecting Motors to Microcontroller Pins Destroys the Board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321975-9CCF-F3DC-67C0-515E07227D45}"/>
              </a:ext>
            </a:extLst>
          </p:cNvPr>
          <p:cNvCxnSpPr>
            <a:cxnSpLocks/>
          </p:cNvCxnSpPr>
          <p:nvPr/>
        </p:nvCxnSpPr>
        <p:spPr>
          <a:xfrm>
            <a:off x="540574" y="1790922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E66713-99DC-35EE-366A-7495D5FC5971}"/>
              </a:ext>
            </a:extLst>
          </p:cNvPr>
          <p:cNvSpPr txBox="1"/>
          <p:nvPr/>
        </p:nvSpPr>
        <p:spPr>
          <a:xfrm>
            <a:off x="600338" y="2206335"/>
            <a:ext cx="5120640" cy="29546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dirty="0">
                <a:solidFill>
                  <a:srgbClr val="5D2462"/>
                </a:solidFill>
                <a:latin typeface="Arial"/>
              </a:rPr>
              <a:t>• Arduino Pin Limit (40mA Max) </a:t>
            </a:r>
            <a:br>
              <a:rPr lang="en-US" sz="2400" b="1" dirty="0">
                <a:solidFill>
                  <a:srgbClr val="5D2462"/>
                </a:solidFill>
                <a:latin typeface="Arial"/>
              </a:rPr>
            </a:br>
            <a:r>
              <a:rPr sz="2400" b="1" dirty="0">
                <a:solidFill>
                  <a:srgbClr val="5D2462"/>
                </a:solidFill>
                <a:latin typeface="Arial"/>
              </a:rPr>
              <a:t>• DC Motor Appetite</a:t>
            </a:r>
            <a:r>
              <a:rPr lang="en-US" sz="2400" b="1" dirty="0">
                <a:solidFill>
                  <a:srgbClr val="5D2462"/>
                </a:solidFill>
                <a:latin typeface="Arial"/>
              </a:rPr>
              <a:t> (~150mA): </a:t>
            </a:r>
            <a:r>
              <a:rPr sz="2400" dirty="0">
                <a:solidFill>
                  <a:srgbClr val="282828"/>
                </a:solidFill>
                <a:latin typeface="Calibri"/>
              </a:rPr>
              <a:t>Standard yellow gearmotors draw 150mA running free</a:t>
            </a:r>
            <a:br>
              <a:rPr lang="en-US" sz="2400" dirty="0">
                <a:solidFill>
                  <a:srgbClr val="282828"/>
                </a:solidFill>
                <a:latin typeface="Calibri"/>
              </a:rPr>
            </a:br>
            <a:r>
              <a:rPr sz="2400" b="1" dirty="0">
                <a:solidFill>
                  <a:srgbClr val="5D2462"/>
                </a:solidFill>
                <a:latin typeface="Arial"/>
              </a:rPr>
              <a:t>• Continuous Brownout Resets: </a:t>
            </a:r>
            <a:r>
              <a:rPr sz="2400" dirty="0">
                <a:solidFill>
                  <a:srgbClr val="282828"/>
                </a:solidFill>
                <a:latin typeface="Calibri"/>
              </a:rPr>
              <a:t>Huge current spikes collapse</a:t>
            </a:r>
            <a:r>
              <a:rPr lang="en-US" sz="2400" dirty="0">
                <a:solidFill>
                  <a:srgbClr val="282828"/>
                </a:solidFill>
                <a:latin typeface="Calibri"/>
              </a:rPr>
              <a:t>, </a:t>
            </a:r>
            <a:r>
              <a:rPr sz="2400" dirty="0">
                <a:solidFill>
                  <a:srgbClr val="282828"/>
                </a:solidFill>
                <a:latin typeface="Calibri"/>
              </a:rPr>
              <a:t>forcing the microcontroller into continuous reboot loops.</a:t>
            </a:r>
          </a:p>
        </p:txBody>
      </p:sp>
      <p:pic>
        <p:nvPicPr>
          <p:cNvPr id="10" name="Picture 9" descr="arduino_mcu_4k.jpg">
            <a:extLst>
              <a:ext uri="{FF2B5EF4-FFF2-40B4-BE49-F238E27FC236}">
                <a16:creationId xmlns:a16="http://schemas.microsoft.com/office/drawing/2014/main" id="{97845A4C-001F-943A-2169-68655EFE9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951" y="1789626"/>
            <a:ext cx="5386599" cy="300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5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03DF-59B5-B7EF-4CD1-685402D57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D6FB6A7F-DBF9-BC34-DCDC-F99C83E02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360" y="882411"/>
            <a:ext cx="4950430" cy="30729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A2B05B-2C89-62E0-4229-F7611A4AF204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183B82BC-69BE-B4F3-BDD7-89BDC0C9F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09E0996C-E08C-16D7-5164-5CFDF19D1ED8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541E01B-AB60-AE74-D4D1-CDBDC3CDF3A3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71E6B8E-750F-DADE-9BEF-05E767000F79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D8C7ACD-D619-B7A2-5A21-40A373098FB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496E045-F4F8-41F4-69B9-6FC71E96A737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0FC40981-6B8C-CF24-E49F-88D932CB51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1423C13-568B-8982-0AC0-65E2782A5B54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D89D6C79-440A-5CBB-6894-0B6E8383901D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856EC194-DAEC-E6E4-8820-3560ECD8A2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13A3803-34B4-9980-949F-03D2192A88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D8FE377-124B-8CF3-16C1-0064A685A926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B84EF14-84AB-A7EF-D1F6-790FAAED0C8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70D7B2F-3BEF-04CB-D19F-E60B58FB32BD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2668BB7-7ADD-797E-40E7-A8851EA071E1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3472DE6-31B5-E41E-91F5-48DB1A4DD1C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9E933455-BA4E-1506-2770-78F50E11FE97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A59F49F-A7C9-2A4E-3BB5-A733245B4F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D4A5EC6-328A-BFB3-70A9-3BAB4F93E557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5891D51-64F9-8C99-B00F-A0900CB9D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3AAA5FA-7DFE-0FAF-0AA7-4383A32D55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8796DE08-3B36-A830-994F-9B1D5872B17F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FD9110B-B689-F1CC-D3EF-C03B80754A01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62361FA-589E-9A7E-87B3-5F524E0C0013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B6447C2-2A4C-4345-C8D3-C396ED26C019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7D4C5CC-DEB0-8142-2DDD-AE31330015C7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E610F37-DE74-EB2F-6F53-65B3E135E360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02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69130DA-2BF6-0BD2-601B-655A278CC64F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57031-7DE3-80CC-8393-125EC0E38F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0D14BD5-40FA-387E-63C9-556FD8E200C9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D3CD26A-8D60-88D3-811B-907DE0A539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4FE72DD-9F34-7161-115D-827AE5B0C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760B722-322E-2B50-F533-E8E1A1E413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938FA53-090D-A5B1-B795-02C0DB4889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86119ED-91A2-3CB9-9695-759B3033FE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4481BFD3-FCE7-01BA-A971-CB1DCA0E4F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0367687F-151E-CB86-16B3-D008C98E36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2F4265C5-2793-909A-5725-EE95CF1E3A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1F01782-832E-DE0A-4F78-BCF4BA8A5F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FF63C2B-5317-B164-9C98-63C6A6133E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F196C29-815F-B52B-3462-ECBA4F8CA95A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BDFD826-2243-50A9-2323-53E4CF32A4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618E87E-92C8-934F-D329-018FE9727131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F020C8EC-DAF0-A76F-A57C-3437CB1962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D115869-452C-9B8E-5B98-5C734A2EFC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8968D10-2B66-DD45-A75F-E92EBFEAE4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10346853-6DAE-55EA-1E0E-9DD5CFDC80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B0F6AB3-DC5B-4BDE-2237-8238398A68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291FFCA-6F4E-8EF5-7A92-452AA53A26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F271A11-1EEA-9D22-073A-63D55EC28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89330C25-455E-91A0-315E-2EF2B77695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F8A45FE-429D-483F-AB41-D2BFF93189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2D2DCC3-E0BB-BF3A-1DFD-1C5340932F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7FC5DB4-ECF9-105B-AFD8-F22D6FB5A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160098-E2E7-D881-BCCA-E453B2C20F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D0CBC1-D2FE-50A7-461F-A3BCE84366A0}"/>
              </a:ext>
            </a:extLst>
          </p:cNvPr>
          <p:cNvSpPr txBox="1"/>
          <p:nvPr/>
        </p:nvSpPr>
        <p:spPr>
          <a:xfrm>
            <a:off x="515591" y="605144"/>
            <a:ext cx="5880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5D2462"/>
                </a:solidFill>
                <a:latin typeface="Arial"/>
              </a:defRPr>
            </a:pPr>
            <a:r>
              <a:rPr lang="en-US" sz="2400" dirty="0"/>
              <a:t>H-Bridge: Direction Control | </a:t>
            </a:r>
            <a:r>
              <a:rPr sz="2400" dirty="0"/>
              <a:t>Polarity Reversal Using 4 Solid-State Switches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ACEB9C-67D4-2B97-6258-8A162184E8C2}"/>
              </a:ext>
            </a:extLst>
          </p:cNvPr>
          <p:cNvCxnSpPr>
            <a:cxnSpLocks/>
          </p:cNvCxnSpPr>
          <p:nvPr/>
        </p:nvCxnSpPr>
        <p:spPr>
          <a:xfrm>
            <a:off x="515592" y="1487335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4F42510-2B9F-0F81-2B4E-840216737C0C}"/>
              </a:ext>
            </a:extLst>
          </p:cNvPr>
          <p:cNvSpPr txBox="1"/>
          <p:nvPr/>
        </p:nvSpPr>
        <p:spPr>
          <a:xfrm>
            <a:off x="547118" y="1621830"/>
            <a:ext cx="5880083" cy="4257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5D2462"/>
                </a:solidFill>
                <a:latin typeface="Arial"/>
              </a:rPr>
              <a:t>• Why H-Bridge: </a:t>
            </a:r>
            <a:r>
              <a:rPr dirty="0">
                <a:solidFill>
                  <a:srgbClr val="282828"/>
                </a:solidFill>
                <a:latin typeface="Calibri"/>
              </a:rPr>
              <a:t>DC motors rotate clockwise or counter-clockwise depending on voltage polarity</a:t>
            </a:r>
            <a:r>
              <a:rPr lang="en-US" dirty="0">
                <a:solidFill>
                  <a:srgbClr val="282828"/>
                </a:solidFill>
                <a:latin typeface="Calibri"/>
              </a:rPr>
              <a:t>.</a:t>
            </a:r>
            <a:br>
              <a:rPr lang="en-US" dirty="0">
                <a:solidFill>
                  <a:srgbClr val="282828"/>
                </a:solidFill>
                <a:latin typeface="Calibri"/>
              </a:rPr>
            </a:br>
            <a:r>
              <a:rPr b="1" dirty="0">
                <a:solidFill>
                  <a:srgbClr val="5D2462"/>
                </a:solidFill>
                <a:latin typeface="Arial"/>
              </a:rPr>
              <a:t>• 4-Switch</a:t>
            </a:r>
            <a:r>
              <a:rPr lang="en-US" b="1" dirty="0">
                <a:solidFill>
                  <a:srgbClr val="5D2462"/>
                </a:solidFill>
                <a:latin typeface="Arial"/>
              </a:rPr>
              <a:t> </a:t>
            </a:r>
            <a:r>
              <a:rPr b="1" dirty="0">
                <a:solidFill>
                  <a:srgbClr val="5D2462"/>
                </a:solidFill>
                <a:latin typeface="Arial"/>
              </a:rPr>
              <a:t>Topology: </a:t>
            </a:r>
            <a:r>
              <a:rPr dirty="0">
                <a:solidFill>
                  <a:srgbClr val="282828"/>
                </a:solidFill>
                <a:latin typeface="Calibri"/>
              </a:rPr>
              <a:t>Four transistor switches (S1–S4) arranged in an 'H' bridge route high-current battery flow.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Forward Conduction (S1 + S4): </a:t>
            </a:r>
            <a:r>
              <a:rPr dirty="0">
                <a:solidFill>
                  <a:srgbClr val="282828"/>
                </a:solidFill>
                <a:latin typeface="Calibri"/>
              </a:rPr>
              <a:t>Current flows from Battery (+) through S1, across the motor left-to-right, through S4 to GND. Wheels spin forward.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Reverse Conduction (S2 + S3): </a:t>
            </a:r>
            <a:r>
              <a:rPr dirty="0">
                <a:solidFill>
                  <a:srgbClr val="282828"/>
                </a:solidFill>
                <a:latin typeface="Calibri"/>
              </a:rPr>
              <a:t>Current flows from Battery (+) through S3, across the motor right-to-left, through S2 to GND. Wheels spin in reverse.</a:t>
            </a:r>
            <a:endParaRPr lang="en-US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lang="en-US" b="1" dirty="0">
                <a:solidFill>
                  <a:srgbClr val="5D2462"/>
                </a:solidFill>
                <a:latin typeface="Arial"/>
              </a:rPr>
              <a:t>• Monolithic Dual Driver: </a:t>
            </a:r>
            <a:r>
              <a:rPr lang="en-US" dirty="0">
                <a:solidFill>
                  <a:srgbClr val="282828"/>
                </a:solidFill>
                <a:latin typeface="Calibri"/>
              </a:rPr>
              <a:t>L298N integrates two complete full-bridge drivers on a single silicon die, controlling two DC motors independently.</a:t>
            </a:r>
          </a:p>
          <a:p>
            <a:pPr>
              <a:spcBef>
                <a:spcPts val="800"/>
              </a:spcBef>
            </a:pPr>
            <a:endParaRPr sz="1600" dirty="0">
              <a:solidFill>
                <a:srgbClr val="282828"/>
              </a:solidFill>
              <a:latin typeface="Calibri"/>
            </a:endParaRPr>
          </a:p>
        </p:txBody>
      </p:sp>
      <p:pic>
        <p:nvPicPr>
          <p:cNvPr id="21" name="Picture 20" descr="l298n_module_4k.jpg">
            <a:extLst>
              <a:ext uri="{FF2B5EF4-FFF2-40B4-BE49-F238E27FC236}">
                <a16:creationId xmlns:a16="http://schemas.microsoft.com/office/drawing/2014/main" id="{8CD625C3-FEEF-7E7A-D36B-78D5994399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32" r="15990"/>
          <a:stretch>
            <a:fillRect/>
          </a:stretch>
        </p:blipFill>
        <p:spPr>
          <a:xfrm>
            <a:off x="6225503" y="3732255"/>
            <a:ext cx="2512917" cy="211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57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C3DB7-D527-1345-9D74-2268F021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14C08E-8D2C-09CA-1FAC-30A17318CE57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4AC8D7D-9F3E-0493-C74D-812BDD78C8A6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C035E91-219A-8868-65CB-D9B6BAC1CBC4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E2111F-02CE-0CAA-2BA3-CFF7062FA6BB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F3E305-153C-CC79-86DA-FD4C3885869D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1D388A7-DD80-2BD9-6E16-465F8DA276D8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B27E332-E99B-0DA2-722B-D882AF1DEF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8D2C82F-14C0-F6AF-E408-581835737AF6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BE5F9E0-EC27-37F4-FDE2-1E705565F292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AAEE9440-0EA3-0421-35FE-EF54A24527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2D72A9D-5F0D-9FC2-698E-50CCC7D083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A8BDD77-BDE2-B746-88F3-E56D295B1F42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52463CA-9EA4-2F8D-CFFB-5C093F027918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D17870EF-5E59-20A8-DDC7-DAE530187326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C0B35F4-C09C-FB93-8D33-D45E9BBBDF3A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247388B-0610-37AC-63CD-FEEE4AAE9627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16DAB1D5-4F47-C7DE-E9B1-EB87FB1991E3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4F86CF09-68A7-4C54-699A-79B08E5D3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231DAE9-125E-8250-C27A-71F7F03CFF2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DEE67D09-20FB-A335-02C0-FD7D7D04CE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67CE544-804B-0609-EF9A-F140B50C3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D0587DB7-5E6C-E279-2AD5-2FA77750A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33EC7FE-9C9D-1B61-6525-FC2FF3F15B96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7AD44D4-3C7C-E60D-63FE-ACDAFFF4E53E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4E034D4-8795-FB24-560A-8A932368AE71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AD54843-65B4-1431-B03E-83340E849D8D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977816-E48E-83C6-04A0-4B790885D7BD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0759E6-D251-79E7-D229-02319A32D94F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03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66EE76D-FD59-6DDA-1337-045729F61CBC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BCC5B4-196C-D30F-16EB-E393E60A1E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FA0DF35-A568-6072-483D-DB634714629F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028C24A-93A3-71ED-D1BA-33AD7DF168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841BAE8-9E63-0B77-E69F-F8B4FCB31A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4F02D824-8DD4-1578-8CB9-187E15496A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B90DA6A-3071-7D00-EA00-8EDFF76E08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C6C0B548-1593-E865-4840-28EF2C9690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3126339-0407-6363-60EA-AEF020D83C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2EFB705-1076-9CCA-0B21-23FD08949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C1931BCD-7690-9C8E-CFD0-6F907F5A42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4DE5042-DDB3-3907-3987-59C4033B57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A523525-ADF7-296F-EC14-F5D589A949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0523AC9-14ED-EA8F-9EFA-EFA4C62DCB19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91D6AA6-3793-2693-DD15-BA21DC0ACD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4A5F479-8D5B-5987-F0E8-6933F01FA45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13B67F4D-5926-9F05-9AA7-055D7F5FAE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F31EE75-2AE1-309B-DFF7-CD045276D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5A672C7-C401-A5F0-08D6-EF6135BBFD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05665B8-4126-4CAC-4218-2A3617F9BC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DADBA28-21F5-7FD2-6546-93495EE7F6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A1744305-DB21-225F-39DD-3C34823231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E62B460-E13D-DBB8-FB9C-31002FF4C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11E583D-CEEC-8799-5A80-528E0A328B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AB303794-5997-2499-2671-307190FF08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9E8C3EC-D274-89E7-54B7-EEEE78C472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3F71EB58-2619-F19A-5C83-5D9B0F60C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87990C-59EE-32B1-FCE9-977FF719A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21335-2FF6-F42F-2A72-CCCE5E3C856E}"/>
              </a:ext>
            </a:extLst>
          </p:cNvPr>
          <p:cNvSpPr txBox="1"/>
          <p:nvPr/>
        </p:nvSpPr>
        <p:spPr>
          <a:xfrm>
            <a:off x="589790" y="659371"/>
            <a:ext cx="741024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Pulse Width Modulation </a:t>
            </a:r>
            <a:r>
              <a:rPr sz="2800" b="1" dirty="0">
                <a:solidFill>
                  <a:srgbClr val="5D2462"/>
                </a:solidFill>
                <a:latin typeface="Arial"/>
              </a:rPr>
              <a:t> for Speed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ED41C4-52BF-CD62-1C99-D8648D863B89}"/>
              </a:ext>
            </a:extLst>
          </p:cNvPr>
          <p:cNvCxnSpPr>
            <a:cxnSpLocks/>
          </p:cNvCxnSpPr>
          <p:nvPr/>
        </p:nvCxnSpPr>
        <p:spPr>
          <a:xfrm>
            <a:off x="589790" y="1798144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8939F7-D959-D3C4-2533-13BB672D6B4D}"/>
              </a:ext>
            </a:extLst>
          </p:cNvPr>
          <p:cNvSpPr txBox="1"/>
          <p:nvPr/>
        </p:nvSpPr>
        <p:spPr>
          <a:xfrm>
            <a:off x="589790" y="1889878"/>
            <a:ext cx="5377262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dirty="0">
                <a:solidFill>
                  <a:srgbClr val="5D2462"/>
                </a:solidFill>
                <a:latin typeface="Arial"/>
              </a:rPr>
              <a:t>• Why PWM Matters</a:t>
            </a:r>
            <a:endParaRPr lang="en-US" sz="2000" b="1" dirty="0">
              <a:solidFill>
                <a:srgbClr val="5D2462"/>
              </a:solidFill>
              <a:latin typeface="Arial"/>
            </a:endParaRPr>
          </a:p>
          <a:p>
            <a:r>
              <a:rPr sz="2000" b="1" dirty="0">
                <a:solidFill>
                  <a:srgbClr val="5D2462"/>
                </a:solidFill>
                <a:latin typeface="Arial"/>
              </a:rPr>
              <a:t>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Microcontrollers cannot output analog voltages. Instead, they switch 5V ON and OFF rapidly.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Software Control: analogWrite()</a:t>
            </a:r>
            <a:endParaRPr lang="en-US" sz="2000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Takes an 8-bit integer from 0 (0% duty, stopped) to 255 (100% duty, maximum battery voltage and full speed).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Combat Traction Modulation: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Full speed (255) on initial launch causes wheel slip on smooth MDF Dohyo. Ramping PWM from 150 to 255 ensures ring-gripping push.</a:t>
            </a:r>
          </a:p>
        </p:txBody>
      </p:sp>
      <p:pic>
        <p:nvPicPr>
          <p:cNvPr id="9" name="Picture 8" descr="pwm_waveform_hd.jpg">
            <a:extLst>
              <a:ext uri="{FF2B5EF4-FFF2-40B4-BE49-F238E27FC236}">
                <a16:creationId xmlns:a16="http://schemas.microsoft.com/office/drawing/2014/main" id="{8543390B-D9CB-A2F7-2E81-B2AED2CE3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893" y="1414974"/>
            <a:ext cx="3604036" cy="25282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18307C-CE18-3B6D-F2CD-4A3E5EB1B1CD}"/>
              </a:ext>
            </a:extLst>
          </p:cNvPr>
          <p:cNvSpPr txBox="1"/>
          <p:nvPr/>
        </p:nvSpPr>
        <p:spPr>
          <a:xfrm>
            <a:off x="6140158" y="4136126"/>
            <a:ext cx="46012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lang="en-US" sz="4000" b="1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Let’s see this on oscilloscope</a:t>
            </a:r>
            <a:endParaRPr sz="2800" b="1" dirty="0">
              <a:solidFill>
                <a:srgbClr val="5D246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89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CDA3-3E01-05A5-9B17-964320A9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90166A-2D95-99F7-EEA3-80A271776A10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66F9F2F-ABC0-8114-18B4-9ECC40C2EBB5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912DF53-5032-C832-AAE1-0481C3A6E911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87971E9-6585-BD54-B413-B986F24CDDD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7ED5E7C-80E5-0FA6-8FD7-A67C05E31810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3E6E30C-2A4A-929E-D10B-B59F3056F72E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7829F8EA-DA81-3687-C5EC-BA5ACB496C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5FBD1D8-BBF0-C222-B80F-A98E891D6895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CA81E03-E461-24C7-BD20-D5CD5FA5513A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7F280BD-8BC3-DFF3-11F5-2EBB15C78B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8854F479-F317-0116-74F9-2E15EA840E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CE0E7DE-D1DA-71AD-43D8-AA5B091503E8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B308A60-2E5B-EC87-2E2C-B6CE3151ECA8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4A093DA3-204E-B6EB-4F28-344FDCDC12F0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311C55F-A518-2A5E-5B54-BBC3449D26F0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C75B820E-4B53-4229-3F8B-8C653183B840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319CBBC6-CF85-EF7E-C5F0-E7B5D9FF2F4D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25107F5A-B46B-AFFC-DA24-4212151FE0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0B295507-5AD3-F85C-B8FD-EF770C0B135E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E604945-CAAB-F763-9CC6-9E70E1515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B3E26EB-AB9A-4154-C6D5-0CA520583C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0C9CFE96-B9A2-BFFB-D0C0-3938ED18D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24580A64-D552-792E-FEA8-01540F181BA9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2523DA5-89C5-ECC7-2AEF-A12F668F4111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E9A6B56-7770-F0FF-8180-8A03019AF41F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88E3D5E4-2184-48C3-FF7B-0F0BCF3CDDF7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6EDC9F-537A-0823-0260-896AC4227E8A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DE319EB-70CF-FD4C-CF3A-82C77166237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04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B45AAA-AF97-0C89-CD87-D5179BBCC9D3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587E2F-7FEC-09FF-8A47-7BBE36EA5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C58008B-6C4E-1A0B-443E-D62C0BAA0985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FDC4668-575F-36D9-89E2-80ED25AF39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B54E74D-B973-6FCE-56AE-DFE747F16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E43B056-A4F2-544D-C63D-FB189A75CF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C22BD27-4462-A316-CA72-81D9C9DE73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F9329042-467E-199F-9F7A-229F0E9B94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47119FC-6A88-41FF-9071-DCA2B22E28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BDD282B-B5D4-E37C-A9C0-C69EFECD58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5A15C90D-39BA-84E1-BC36-475DA8470D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422C9BC-EE6D-B177-65F2-54E3567F73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C2E20975-8757-83E9-15EC-B4DB0098971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A47D2C4-D362-24AF-5400-64B49ED1ABA0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19AA5D8-FE98-CAF0-6CE7-A34E331A8B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7A8307D-7774-CD87-30DB-3FC4108347FD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02D4436-E143-19B8-0E47-4F78F5F8F2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424FF786-D6CC-E392-C50D-7A0E1FE1F0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9FD97B7E-A530-D669-1CBA-86DF80F0B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075EE5D-BC8A-3206-9AF7-B5DD6441D8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53BB5F52-3ADB-5C79-A101-925951DCF9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CAF1244C-30BA-F318-0488-1EB8CD4E8D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9FF8E7E-F956-9910-A24F-5401B7BDB5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8526F6C-1214-F1EC-AE7B-DF9C3F7EC3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CB119B7-AB0A-FFFC-D331-F70444B7EB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2D4BB98-F88B-F0ED-A067-AD22453FEA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E54F7FDB-3431-86A1-9B69-A033CAAA2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BFEBD4-D9E8-14B7-B6DA-24FB042CF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CAFEE9-522F-32F1-3559-0D824068F0CE}"/>
              </a:ext>
            </a:extLst>
          </p:cNvPr>
          <p:cNvSpPr txBox="1"/>
          <p:nvPr/>
        </p:nvSpPr>
        <p:spPr>
          <a:xfrm>
            <a:off x="568958" y="728966"/>
            <a:ext cx="5923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L298N Pinout</a:t>
            </a:r>
            <a:endParaRPr sz="2800" b="1" dirty="0">
              <a:solidFill>
                <a:srgbClr val="5D2462"/>
              </a:solidFill>
              <a:latin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E9461E-AA24-1829-5F35-46117A42BBD6}"/>
              </a:ext>
            </a:extLst>
          </p:cNvPr>
          <p:cNvCxnSpPr>
            <a:cxnSpLocks/>
          </p:cNvCxnSpPr>
          <p:nvPr/>
        </p:nvCxnSpPr>
        <p:spPr>
          <a:xfrm>
            <a:off x="568958" y="1489728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5AECF3B-2C93-BCC8-CA19-914F0B6968D6}"/>
              </a:ext>
            </a:extLst>
          </p:cNvPr>
          <p:cNvSpPr txBox="1"/>
          <p:nvPr/>
        </p:nvSpPr>
        <p:spPr>
          <a:xfrm>
            <a:off x="639631" y="1649633"/>
            <a:ext cx="5374642" cy="35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dirty="0">
                <a:solidFill>
                  <a:srgbClr val="5D2462"/>
                </a:solidFill>
                <a:latin typeface="Arial"/>
              </a:rPr>
              <a:t>• Power Screw Terminals: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VCC (12V Battery (+)), GND (Shared Common 0V reference with Arduino GND), +5V (</a:t>
            </a:r>
            <a:r>
              <a:rPr lang="en-US" sz="2000" dirty="0">
                <a:solidFill>
                  <a:srgbClr val="282828"/>
                </a:solidFill>
                <a:latin typeface="Calibri"/>
              </a:rPr>
              <a:t>S</a:t>
            </a:r>
            <a:r>
              <a:rPr sz="2000" dirty="0">
                <a:solidFill>
                  <a:srgbClr val="282828"/>
                </a:solidFill>
                <a:latin typeface="Calibri"/>
              </a:rPr>
              <a:t>upply terminal).</a:t>
            </a:r>
            <a:endParaRPr lang="en-US" sz="2000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Motor Output Terminals: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OUT1 &amp; OUT2 connect to Left Motor A; OUT3 &amp; OUT4 connect to Right Motor B. Swapping wires inverts default spin direction.</a:t>
            </a: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Direction Logic Headers: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IN1 &amp; IN2 govern Left Motor A direction; IN3 &amp; IN4 govern Right Motor B direction. Connect directly to Arduino digital GPIO.</a:t>
            </a:r>
          </a:p>
        </p:txBody>
      </p:sp>
      <p:pic>
        <p:nvPicPr>
          <p:cNvPr id="9" name="Picture 8" descr="L298N Motor Driver With Arduino - A Complete Guide - ArduinoYard">
            <a:extLst>
              <a:ext uri="{FF2B5EF4-FFF2-40B4-BE49-F238E27FC236}">
                <a16:creationId xmlns:a16="http://schemas.microsoft.com/office/drawing/2014/main" id="{832DF8AD-162C-937F-B5AA-9F82D8A054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522" r="12760"/>
          <a:stretch>
            <a:fillRect/>
          </a:stretch>
        </p:blipFill>
        <p:spPr>
          <a:xfrm>
            <a:off x="5692311" y="1373372"/>
            <a:ext cx="5533673" cy="383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1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737A-6EEA-55E4-77A1-02D43E15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37C102-EF92-213B-995D-4920697C6699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682D7A9-9E41-996B-8F19-FCA670AA8226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B893A71-0E87-3D37-1B6A-D9600EC8BC06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4B36316-57CB-963F-A3FE-B9CD52B2B5D7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97F865B-447E-619F-ED35-C7F1CD873F6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E037949-EF01-4C16-655F-BAD927F09D02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96506B8-2EB5-5571-EC4B-32C0D6E739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A7F1F6B-0391-50B9-BE2D-7E56CEAC71D7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51DF545-138F-3E41-8706-F8AFAC9D4D0B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E18F87E0-CDF6-028A-57E8-B0CBF73760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3C0E9837-EBFD-151F-33E1-B760167D39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6BDE244-0065-549D-8C5D-C8646B0350C3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12CC52D-E46D-8C58-F1C7-67D0D11F55FF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715989F-254B-0FC8-4E0A-144FC2D92D3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70413D6-371D-CA1F-202F-91E3641D68A2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C3C58A5-94AC-6433-951D-76D20244CD51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F590779-F9AD-3823-0139-C72A3FFD3B76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334B04F-AB13-2CE5-38EB-BC2D05450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20176F4D-D927-3C68-4290-408E3AB3677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B74C9D3-47F3-8064-5241-571681E4E2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C72B10A-8A5F-EC5B-0E23-86C22E509B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21D04AB9-C88A-C5D2-4F14-95A662674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EC2AB72F-1A99-094A-CFA0-58E03D54CB67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BE1DD0F-FBF7-7896-70A7-1978616AD2E5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8212CBC-AE1C-7369-B7CC-A43B36C916C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0844F5CE-01F9-DA4A-A7DC-2AD0CE8BFD4B}"/>
              </a:ext>
            </a:extLst>
          </p:cNvPr>
          <p:cNvSpPr txBox="1"/>
          <p:nvPr/>
        </p:nvSpPr>
        <p:spPr>
          <a:xfrm>
            <a:off x="682781" y="726518"/>
            <a:ext cx="107214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Exercise_1: Control a motor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50A8F755-427F-9C7F-8A13-B86E71282782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2C7691-3BCB-8334-C042-886EFCAEAB41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F573453-0092-D86E-E707-8BAFE42CE0FD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05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062BC7-C95A-701D-B5C1-D9CD18C543D2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6EE7841-3F27-B79A-8B15-FADD351CF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7029228-D8E9-2D1E-64E5-9A6524A8CD29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39C4259-87E5-ECD6-C690-B2DC4BDBD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EAAB6C2-0EF0-C0CE-3158-3D5253472E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6F3E6E1-2393-2C41-C5C8-D049F6908A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E517D48-4128-0E10-F4E7-B7CA2122A5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DA9AF70-92B8-01BE-1773-9FCB00B681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F07E932-BF9D-8044-5ECB-3BE68E0A3E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A0CEAD4-EE7E-E372-05FE-10007D2082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6AB6743-6785-5F0C-B612-370ED59957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CB8937C5-8B2A-06E9-12D1-9288EBBA18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01CDE98D-B031-FB81-1D09-D0F984FC1B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444A2F8-F258-B6AA-D684-0E499768D3C7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921639E-0531-6ECC-D585-1C5099FD8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FD51A103-7EE1-C1A4-AD6A-78F4C37B4606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20ABB72-9C2B-0CDE-6496-563D187248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0C8EB62-C4A7-E70E-4031-FA6ACDE3E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4C744D3-83FE-C62E-FA05-BB419D945C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37CF82B-6FE5-EBE6-C292-1228CDD1DF9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D1556D7-F422-42DC-0DAA-1DCEE6A286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34B37646-EFD5-0772-248D-309D191B87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902A7620-4EA3-F7CC-37FE-7187A41475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4AB9103C-9504-6BCB-16F8-E948DDDD29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1735D457-B7DF-E668-2291-96D32E13E8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356E4D2-0641-460D-8C25-AD64F42749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BC65A78-4DF1-9EF9-6308-2369E885B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1170BB-D641-6BD4-CFB8-C34123D16C9E}"/>
              </a:ext>
            </a:extLst>
          </p:cNvPr>
          <p:cNvSpPr txBox="1"/>
          <p:nvPr/>
        </p:nvSpPr>
        <p:spPr>
          <a:xfrm>
            <a:off x="747545" y="1624868"/>
            <a:ext cx="92529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1- Open simulation software (Proteus        ) do the wiring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2- Open IDE and write the code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3- Burn the code on the microcontroller</a:t>
            </a:r>
          </a:p>
          <a:p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</p:txBody>
      </p:sp>
      <p:pic>
        <p:nvPicPr>
          <p:cNvPr id="3" name="Picture 2" descr="Proteus Design Suite - Wikipedia">
            <a:extLst>
              <a:ext uri="{FF2B5EF4-FFF2-40B4-BE49-F238E27FC236}">
                <a16:creationId xmlns:a16="http://schemas.microsoft.com/office/drawing/2014/main" id="{D6AF0C8C-DF58-6E1E-958D-E0DBAC80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455" y="1624868"/>
            <a:ext cx="606762" cy="450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B0A64-6010-B091-A4DF-78C881607A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7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F0418-36F1-8534-B017-FA693943D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0ADB57-9ACB-07E1-1AA6-EE5B7B9CCE97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E3F7ED6-217B-E679-B6DA-E149BEB3CF6C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2E6EA1E-D35C-9037-82D1-48B1797AC4A7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65244D6-3DED-FF6F-4CC7-8FAC11F97BA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5409C36F-87DD-8CE4-8FCE-8BB041286CC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DDE4E9A-02E0-9C1E-7B04-519257F45666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4AF4C1BD-4DE3-DE12-805F-7693CF2D8A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10A24AA-11FF-3616-EA79-341D11487872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21B5D59-0F3E-95C3-425D-1F86B9E1F096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B8A0F5D-95E5-FAB5-98A6-BCEDD5007C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4CEAA3DD-6BA0-F3ED-AF48-F11831A310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11E10C3-619E-9F56-2FB4-77BDFA64B6EB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2EAAF5A-FD35-78A5-BFC0-6A92D63B746D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91763A6-0B7F-302E-3594-B997C78E21B3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5A38E51-A5F5-D32E-6C0E-D531613EB67A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36B94190-95B1-BBAB-6A75-2837D581B50D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F929A05-6C6E-72A5-F88F-44FB1A09B02A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47C3D45-1431-5B46-F906-F38A5544A6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52AB63D6-FD3E-97C0-9F61-EAEA523855D0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3EB2EB9E-8FAA-44F3-3476-69882F90A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41D8679-808E-66CF-B2B2-270B25E231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275E5A7-A424-142F-0EE9-83658C953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6EFEA73D-0AB1-7F0D-1DFC-B85F5DA9159F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F78F3B4-0DE5-1CDC-2D62-543E84B1F303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5A24815-2C96-1B85-B868-DF4DB04785B8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78F66D41-3FC8-05B4-8A2F-FAD70F4529EA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980662E-2341-D4B4-E999-5864B56BB02D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EBF8E9-008B-9996-3F71-BC4FC6C91FAA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06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BF21BE-79E6-A6E2-9BCA-5F8A2122BB24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C2ECC95-D0D8-969F-5F7A-5DF1645414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34F2DEC-9101-034D-27DA-5313C2186FA6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81882E4-9E90-E35E-DB96-28D917ED2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9A4A030A-4901-DEEE-202D-4C8BE765E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89864D9-32A1-AA77-376D-BA74BEADA0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43AB0E96-4B05-67FF-9B86-5385C16E6C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CAA01F1-C0BA-CA45-A297-6C0F685A22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2DBE598-E719-4A68-0C00-35254EB000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87C9A31-03A5-ECB1-6E6A-9DF664C76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C5C2352-0C55-01B2-8FF6-01485D8882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E656C6E-F13F-099F-3BC3-0E6A7B66AA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E230E6B7-50C2-919D-49BE-5B759A6FF2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1E99E74-3A67-6B6A-53D1-C59403F1DB0D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46048A6-3CA5-2C65-ADF7-7B2551EB5E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79E3F0D-E508-6289-6970-CCE598659A0E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94D036C-56C0-37DE-51A9-245F8BA977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BA1CF53E-C018-1A3E-2DDD-A84883CD88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1BB312B0-7BA4-A67D-E091-9336658966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A93E1C12-EF79-B195-91FB-39D52FD633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47BF4304-3F65-CE16-F9E6-DB3CA9E31F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A676BAA-0E92-F0AB-1835-74CD8F3DB8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24BAA7F1-A1B8-3650-0960-DD41935626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A3C3DEF-65E5-C323-B8DD-4003DE68EA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741F68E-E0FF-3D05-5BDA-936107B674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0AA226A-D129-739A-E208-DAAA567544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62B88012-07C4-91E5-295E-66B6DB578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B35680-76FD-C51E-D9FD-EEA0D6937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967" y="1016706"/>
            <a:ext cx="9118287" cy="4194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C216AC-8577-6C54-3D5D-FA85A0D2A9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4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06417-950B-36DB-D713-51801683B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741819-9458-1329-36BE-8B0361B0328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3DC1329-687A-A776-5E2D-A061DEF44898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48F2D91-81C3-9707-538D-DC4BC8EFACDB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6271CF4-07B1-BF83-9E2F-1EBA4ABB20B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55FA642-D700-B870-31DB-3A78375B1A77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1E31F63-FF20-240E-C975-1EA96A8B931A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675EB42-EB51-31F5-792D-A56BB7FA60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001FD05-DFFA-8D47-BB18-B3D5D748F74D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3F1934ED-A828-F1A7-CB34-F44AC703FBDF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0D13497-1C23-7F30-C2D0-8CFF0E7060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7C7C45-B557-6046-3522-C0C7A478A9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3840D64-F139-DFF1-27E3-E2C9B533FE2B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30F3043-2206-8FB0-E2F0-FCD71AE53209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9091D829-C926-A1F8-BB2E-CF0C68245A56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E70490C-4A43-A3FD-BD11-C88223F29005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7321F9D-88BE-4195-AC60-E94FA3A25A6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BF27EFE-168B-EE7B-C8DB-6887FB3676BD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99E8675-FDD1-218F-CCF4-BBFDDAAAA6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71B51741-364D-7CFD-1E28-C4E41F5BB460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8035D4EB-BE4A-EF23-0A5B-A7ED07A8BA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D0C5217-C07D-1965-E622-0800BB6745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3C389F4-7B9B-0DDC-78AB-BDD6368D9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F2A19A2-8CAA-803B-6CCC-08498B3CE0CE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927E7AD-D072-38A7-A74E-DB5A067CF6AD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5242FC56-C207-4849-87D0-AE7EF01D3635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5354B378-64C8-73D2-7A7C-C87D718A35BB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41B4D5A-54D7-CC3F-CCA4-9C53FAED5D3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850D05-66F5-69AA-100D-F8C8F2699C2B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07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1148FBA-26D0-1AB8-F4FA-3F93C3030A0A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FF76334-366E-ADFF-F0B3-6CE6CF9128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064FC5A-580F-3548-78D7-8B20FE64BDDA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1A4F0F2-E1BD-7A6E-9193-170F12684E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B4616D3-6A47-532F-5FBE-CE943A7F4F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39966A93-9035-D24E-BFC5-302397467C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DE8C3B0-45F1-B6B9-528C-A4D53E38FD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C8F85F1-3DC2-C0B5-9CED-A2E45E7DE3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905BEC31-E6EF-26F4-8501-1B43566729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BCA41C0-12EA-27D4-C494-6DE4002735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4A958618-7DD8-8517-5B71-DB8BBC7DB3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B2C21AC1-7555-8AD7-DAD8-0760A001E8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C34BB24-D125-DDA1-3BE3-ACFFE1A76C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571F8D7-A0F5-267F-6105-C5CCDF92F935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1B9A3EE-655C-BDC4-6848-0502D09516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1C3F84A5-1E57-929C-8874-A9BC53B9A3B3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60158F1-BF32-3FEE-1B93-2FEAB201C0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5AFFB05C-645E-28BF-535C-111F4C773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52B54623-12A2-15C7-031C-8E20D0923D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B76374CF-D1E9-0392-D3E0-9FEE771BFD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E36CF18F-04A1-0F1A-C672-1AB3E10F22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1357C25E-7BCF-C99F-6218-9844EF54FE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699112A8-BF19-F342-01C3-62408F9BD7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57231094-501A-78DF-9732-B388A776ADB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F808435-DABB-E04A-10BA-D97BBEC387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FAB334A2-D972-87C7-F0CC-CD236925E1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258DCAB-A062-ADBC-A765-1AAAEB632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852882-D183-86C9-ADE8-CFA917521F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8C8D47-1B40-C058-524B-919B9E784DA1}"/>
              </a:ext>
            </a:extLst>
          </p:cNvPr>
          <p:cNvSpPr txBox="1"/>
          <p:nvPr/>
        </p:nvSpPr>
        <p:spPr>
          <a:xfrm>
            <a:off x="668122" y="680898"/>
            <a:ext cx="70616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4000" b="1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Movement Functions</a:t>
            </a:r>
            <a:r>
              <a:rPr sz="2400" b="1" dirty="0">
                <a:solidFill>
                  <a:srgbClr val="5D2462"/>
                </a:solidFill>
                <a:latin typeface="Arial"/>
              </a:rPr>
              <a:t> Forward &amp; Reverse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839891-06B7-8A34-2A8F-5C43B9AAFE08}"/>
              </a:ext>
            </a:extLst>
          </p:cNvPr>
          <p:cNvCxnSpPr>
            <a:cxnSpLocks/>
          </p:cNvCxnSpPr>
          <p:nvPr/>
        </p:nvCxnSpPr>
        <p:spPr>
          <a:xfrm>
            <a:off x="668122" y="1758116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9ED5015-88D0-BF13-DEC5-DE5EF044ECF4}"/>
              </a:ext>
            </a:extLst>
          </p:cNvPr>
          <p:cNvSpPr txBox="1"/>
          <p:nvPr/>
        </p:nvSpPr>
        <p:spPr>
          <a:xfrm>
            <a:off x="719325" y="2037433"/>
            <a:ext cx="8269979" cy="348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digitalWrite(pin, HIGH/LOW):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Controls motor rotation! HIGH connects wire to 5V; LOW connects to 0V. Left Motor Forward: IN1=HIGH, IN2=LOW. Right Motor: IN3=HIGH, IN4=LOW.</a:t>
            </a:r>
            <a:endParaRPr lang="en-US" sz="2000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endParaRPr sz="2000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Inverting for Reverse: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To back up, we swap the voltages! Left Motor Reverse: IN1=LOW, IN2=HIGH. Right Motor Reverse: IN3=LOW, IN4=HIGH.</a:t>
            </a:r>
            <a:endParaRPr lang="en-US" sz="2000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endParaRPr sz="2000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analog Write(pin, SPEED):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Controls how fast wheels turn using PWM (0 = stopped, 255 = full power). Setting SPEED = 200 provides high pushing torque without tipping.</a:t>
            </a:r>
          </a:p>
        </p:txBody>
      </p:sp>
    </p:spTree>
    <p:extLst>
      <p:ext uri="{BB962C8B-B14F-4D97-AF65-F5344CB8AC3E}">
        <p14:creationId xmlns:p14="http://schemas.microsoft.com/office/powerpoint/2010/main" val="368373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51BBE-B114-4820-746F-0947D7A4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5031D0-FD6B-3B87-6EE1-5A16A6995750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DFA461B-379E-54FC-6AED-7AF18E03F3EE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E4A3861-8F7A-8D00-0A7E-AB7C458A9F1E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99216CA-9342-EB32-FC77-044C3AA9734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4B284EF-8628-ACC7-B5DB-8C4AFB373093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AC0372B-3DE8-338B-1789-724651259C40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4832FB1-733C-D902-9E55-B2D2D2A15E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92AD740-05EE-6601-D422-DB297EF7EEAD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AB811A5-30B6-028A-D031-0C688713CEF4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819981D5-B0D3-6666-CF99-F5A4FC723E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9CDDC6C-3C6C-D58A-CEA0-0C5A8FDA5F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8A7CD94-D650-96C1-CBC0-9C573CEDED9D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9B53BE7-7E71-2ABA-39E9-C0B7A4F8C864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C0CDA7FF-C04F-62E3-4978-5304D1A17DB0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7EDFCBD-6456-3C82-F37E-3B12BDEDFA36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3AC3409-8148-FCC0-4B87-4AB70C585796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F0F8F1BA-DBBD-65F0-2459-C77BEB972014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276C5ED-8687-2693-C075-7E5996E8DF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7DAC147-B323-801F-72D9-7AC3A50E31A3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8FCE7241-63EA-FF75-5EEF-FD42BB3AE0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3AA1BB7-8278-0C82-1C02-DBAF9B72B1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947C8D40-2189-CEEA-0D1D-293ACA82D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59E4AE87-E460-AC64-25E8-D074A3359F22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E22923C-788C-3E80-A1E6-48A996B3E26F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EBA8ED1-A68F-BED3-2877-608A0050E82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2F3917EB-E152-FAAF-7A0B-B5529C2A213A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71283CC-61D3-F3ED-92E4-AC3AE33A6AE5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BF0042-A751-D228-36BE-CC27C37F250D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08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EF47DF7-ACE7-00ED-E5B8-C0CF7032BF03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47EE538-513B-AA15-DA50-441DB51C0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843BC53-D7E5-BD5E-3D6B-82E7E6CBD09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81B42F8-DDC0-088E-10EB-996A0E7498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8B02721-BAE4-F1EF-4C6C-D0D7661CDB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E11A76D-9436-1E76-DFD3-2D22016466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27E96A8-209F-32B6-931D-D6DC49313A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9080D2E1-B472-24A8-0A0B-8216A4393A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EC4D478-6FA3-DAF5-84C9-33ECFAAAEE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C493B5D-C2E5-ECBD-FA05-EC814610D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096E067-838E-1A80-E9AD-3D3F9894BC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969A77F-DF3F-906A-7766-44BFFDD264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1B4C2826-2376-33AD-3D2B-C6710A09A4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294CD2A-D2EA-C7BC-8150-9FF66CD90E8F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59C4E46-5416-4189-483C-5719D229B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EEF85826-92B1-78A8-4E6B-3AE8AEFF25E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79019D95-7FF5-58B7-A771-CF8E730174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2767D03E-BBB7-6910-3498-7C25F023A5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38305652-176D-7B1D-E212-07C1FE660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F045041D-0E11-D033-A22E-B45402CCD5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1D7EE19-34E6-4B29-F439-9C1CB540CC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FF382E14-1439-AA6D-4318-9069035212F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145D0DBF-4571-EC93-4BC1-8AE7625E3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114740DC-8EC8-5DBD-1F33-239CD88671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96B35FC4-8403-2DED-A843-EC47B4B9B0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758C9515-86EA-69E7-219E-412F34F80D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0D6E560-7491-2F88-02A9-A8565D818D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235182-E8F0-98A4-6F49-33BFC7469D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9BBC76-A5E7-D959-6B9A-E57A233C2220}"/>
              </a:ext>
            </a:extLst>
          </p:cNvPr>
          <p:cNvSpPr txBox="1"/>
          <p:nvPr/>
        </p:nvSpPr>
        <p:spPr>
          <a:xfrm>
            <a:off x="583821" y="747602"/>
            <a:ext cx="57205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4000" b="1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Turning &amp; Stopping</a:t>
            </a:r>
            <a:r>
              <a:rPr sz="2400" b="1" dirty="0">
                <a:solidFill>
                  <a:srgbClr val="5D2462"/>
                </a:solidFill>
                <a:latin typeface="Arial"/>
              </a:rPr>
              <a:t> Spins &amp; Dynamic Brake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562682-A4F8-57D1-DDCA-369485C617B4}"/>
              </a:ext>
            </a:extLst>
          </p:cNvPr>
          <p:cNvCxnSpPr>
            <a:cxnSpLocks/>
          </p:cNvCxnSpPr>
          <p:nvPr/>
        </p:nvCxnSpPr>
        <p:spPr>
          <a:xfrm>
            <a:off x="556274" y="1824820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D53623-1A37-5EA5-73C4-61B74898FF0A}"/>
              </a:ext>
            </a:extLst>
          </p:cNvPr>
          <p:cNvSpPr txBox="1"/>
          <p:nvPr/>
        </p:nvSpPr>
        <p:spPr>
          <a:xfrm>
            <a:off x="694660" y="1981062"/>
            <a:ext cx="8530287" cy="35907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000" b="1" dirty="0">
                <a:solidFill>
                  <a:srgbClr val="5D2462"/>
                </a:solidFill>
                <a:latin typeface="Arial"/>
              </a:rPr>
              <a:t>• Tank Spin (Zero-Radius Turn): </a:t>
            </a:r>
            <a:r>
              <a:rPr lang="en-US" sz="2000" dirty="0">
                <a:solidFill>
                  <a:srgbClr val="282828"/>
                </a:solidFill>
                <a:latin typeface="Calibri"/>
              </a:rPr>
              <a:t>To spin left on the spot, wheels turn in opposite directions: Left wheel goes Reverse (IN1=0, IN2=1), Right wheel goes Forward (IN3=1, IN4=0).</a:t>
            </a:r>
          </a:p>
          <a:p>
            <a:pPr>
              <a:spcBef>
                <a:spcPts val="800"/>
              </a:spcBef>
            </a:pPr>
            <a:br>
              <a:rPr lang="en-US" sz="2000" b="1" dirty="0">
                <a:solidFill>
                  <a:srgbClr val="5D2462"/>
                </a:solidFill>
                <a:latin typeface="Arial"/>
              </a:rPr>
            </a:br>
            <a:r>
              <a:rPr lang="en-US" sz="2000" b="1" dirty="0">
                <a:solidFill>
                  <a:srgbClr val="5D2462"/>
                </a:solidFill>
                <a:latin typeface="Arial"/>
              </a:rPr>
              <a:t>• Spin Maneuver: </a:t>
            </a:r>
            <a:r>
              <a:rPr lang="en-US" sz="2000" dirty="0">
                <a:solidFill>
                  <a:srgbClr val="282828"/>
                </a:solidFill>
                <a:latin typeface="Calibri"/>
              </a:rPr>
              <a:t>Left wheel Forward (IN1=1, IN2=0), Right wheel Reverse (IN3=0, IN4=1). The robot pirouettes around its center vertical axis!</a:t>
            </a:r>
            <a:br>
              <a:rPr lang="en-US" sz="2000" dirty="0">
                <a:solidFill>
                  <a:srgbClr val="282828"/>
                </a:solidFill>
                <a:latin typeface="Calibri"/>
              </a:rPr>
            </a:br>
            <a:br>
              <a:rPr lang="en-US" sz="2000" dirty="0">
                <a:solidFill>
                  <a:srgbClr val="282828"/>
                </a:solidFill>
                <a:latin typeface="Calibri"/>
              </a:rPr>
            </a:br>
            <a:r>
              <a:rPr lang="en-US" sz="2000" b="1" dirty="0">
                <a:solidFill>
                  <a:srgbClr val="5D2462"/>
                </a:solidFill>
                <a:latin typeface="Arial"/>
              </a:rPr>
              <a:t>• Spin drifting: </a:t>
            </a:r>
            <a:r>
              <a:rPr lang="en-US" sz="2000" dirty="0">
                <a:solidFill>
                  <a:srgbClr val="282828"/>
                </a:solidFill>
                <a:latin typeface="Calibri"/>
              </a:rPr>
              <a:t>instead of switching gates , you simply change the PWM speed !</a:t>
            </a:r>
            <a:br>
              <a:rPr lang="en-US" sz="2000" dirty="0">
                <a:solidFill>
                  <a:srgbClr val="282828"/>
                </a:solidFill>
                <a:latin typeface="Calibri"/>
              </a:rPr>
            </a:br>
            <a:endParaRPr lang="en-US" sz="2000"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What is Dynamic Braking?: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stopMotors() sets all direction pins to LOW (IN1=0, IN2=0, IN3=0, IN4=0). This shorts the motor coils directly across ground!</a:t>
            </a:r>
          </a:p>
        </p:txBody>
      </p:sp>
    </p:spTree>
    <p:extLst>
      <p:ext uri="{BB962C8B-B14F-4D97-AF65-F5344CB8AC3E}">
        <p14:creationId xmlns:p14="http://schemas.microsoft.com/office/powerpoint/2010/main" val="387932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A521-C7C4-E9B9-2053-F3F131E98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63F26A-A719-A465-1146-8B82739F770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69FCD4E-0CF9-6171-E766-5C636EEC2529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36D2680-80BB-F0A1-5FE1-40EE5013C2A3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8208D2D-4C90-1A4C-EF60-D2809F85054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31A54FB-0D02-69F2-99B5-9D8BA970C4B0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90A17E9-5942-4427-D0F2-726A14CAE241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BEB2EF-E87F-EBC4-6756-8F51F40773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D1FD9C2-9EB8-3831-CCCC-7ADA6733707B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EA89A1F-A4C2-88D7-DA24-269106700B07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D025862-3D8C-CD1D-60F4-B108323DF3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AA8408D-3B54-8A4B-39F6-D27D4A23F1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4B2B4E6-BE64-CFD9-B806-18E94981254F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373C3B0B-E1E1-A71E-0269-44D0553A8920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F9E31271-28BF-853E-1359-CDDC4FF5551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98CA779-F767-57D2-C925-38512C4BF825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2862BAA-5906-B06D-C7C5-8C49ED9DE6F6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0516F2B3-A47E-AAD5-4B6A-BB46F6019024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6DD9AB45-C2A5-6133-8EE9-CE13E7011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DBD95DA-D715-37E1-AD0E-2FA00707E273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4E563E01-B722-A13A-15F8-B3682CC32D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BFB2307-91DC-3C46-F7C1-A59B11E48B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4796862A-50D8-50ED-CA67-50605025F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1B859B23-AC6E-F06E-53E4-EEA9D4C5B7EC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2B02AEE-8C68-DD4C-E689-8D77506FC17E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19EF375-DF30-82B3-0AC3-2F81274EE3CE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9141785A-F40B-FD41-4CDA-7E7CE59E373E}"/>
              </a:ext>
            </a:extLst>
          </p:cNvPr>
          <p:cNvSpPr txBox="1"/>
          <p:nvPr/>
        </p:nvSpPr>
        <p:spPr>
          <a:xfrm>
            <a:off x="4371344" y="1782674"/>
            <a:ext cx="3449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LAB_1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1B0C960-F872-D9AA-FEDC-6671E1F47AB9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7C233A-B840-1490-37A2-74B4E582F06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72517E-0DE4-7BA5-1816-E45D07619C74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09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89E328F-D386-ABCB-F727-3BB2D91612DF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3DD7BBD-D902-857A-E5FE-560202B39E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D842D90-0230-3BBD-088A-9A6F50F403F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5C19412-991D-FF57-86AC-C454FA6A25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48471A5-BCE6-C4CA-5E42-3B5AA7CB0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48FE198-20BF-82F5-CF3C-FA8C1F98E0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46CBCF5-C544-4B4A-A742-46B18C6B8A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FAD7835-A266-A7AB-0EA8-F1B911B2BC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0C5BEB2D-309F-6836-B803-DF25CC692A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37E8636-1F34-DACD-F12A-EBB6C56CB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D0EEBA7-7491-8329-3BF7-258D515774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F8E2A6D2-BE2A-E366-45DE-04628387E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5065796-8ADE-6031-1FA7-775F485A77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472A3DD-30DF-DD32-B350-9B53EE1A6595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882E461-135C-EDF1-857F-2F25960E6B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E707900-BD7B-199F-1B3D-D0EB35665FB7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89E06DD-1EF6-5FC9-1601-5102CD7537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4D3D0861-D390-1A60-0ED7-BBAD63E6A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7952949B-D3A1-990E-A1C2-91D47B4AED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2F91A77F-BB06-C931-7778-26A2F64DDB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C89D6337-7A30-2A8F-769D-820ED9E56E4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8FB39074-2013-7C4C-44F7-8E13EB87EF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416DD27-BE3C-2450-E1AD-A6F72DD31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FB64AD34-AEAA-10AC-39C9-D95158FDFA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E814D06C-CB56-F6A3-FCA0-D27C430FE03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607494E-8704-501C-66C1-79ED8D7A34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83D70E98-E98D-E12A-5592-0641818E2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C35524-116A-CF37-B129-5759714EA8E0}"/>
              </a:ext>
            </a:extLst>
          </p:cNvPr>
          <p:cNvSpPr txBox="1"/>
          <p:nvPr/>
        </p:nvSpPr>
        <p:spPr>
          <a:xfrm>
            <a:off x="2166109" y="2830528"/>
            <a:ext cx="78167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Control 2 Motors, write the following functions</a:t>
            </a: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moveForward();</a:t>
            </a: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moveBackward();</a:t>
            </a: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turnRight();</a:t>
            </a: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turnLeft();</a:t>
            </a: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Stop();</a:t>
            </a: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Try on simulation first, then hardware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5B1932-3829-D26E-2759-EBFD57648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3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3C18-B1B0-29FA-1724-841C52836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66E5A3-EC97-F596-A1A7-94311DEB863A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93D697E-C255-6FDB-6513-0E4FFA734C60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8E86CC4-A5ED-7969-01FA-223F53469B6E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8190F7D-3900-EE76-6AA3-2D6104913E7B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251C294-1922-EEEB-7A45-22FBB724C9F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28DEA01-11C9-A95E-4455-356EB8D8D0D9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2874C00-1FCB-B898-54D4-CC5FA5C193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2B02F63-9C1F-8E09-37DA-94BF3A3BE2DA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D0FB29C-103F-F6D5-4D74-8511F6E6B878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2B8E942-AC19-62AB-29D5-9A63713F98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988AAE1-3995-2D12-9AA3-72D06B5E97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EE272963-27DE-88F7-39FC-1A813386CA38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5A779F2-3A8B-BB42-DA97-702981E4FA12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9CE830B-803D-574F-D0B6-DBAB5266287E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F656BCB-112E-79C3-3D95-8F3E4CB71ACF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F622F7D7-008B-5B14-F5D3-2AC52FA45FA1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50D22E9C-7B0E-F84B-5E2F-0D905D5C18FE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41C1D9B4-3863-B99F-36FA-87E6A5C186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0BEE2DBB-C69D-ED78-FB53-C6033834BCF4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FF22C058-317F-437D-8013-14A905B770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119FC822-BFED-4A96-16BC-76C74EEBCA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01A60D7-A1C3-6C32-5123-09AEC7542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2B0CB16-AB81-E295-6885-B2176A116BA0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8C53EF2-4D97-10E8-3E35-2622632F5D1A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49423B1-53D8-9F0D-7BA0-A94B24ED618B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BE5FB1C-161C-F029-A66A-97A96FC85D7D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2F97AD3-890C-6CBC-F463-12DC4F68BC0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E4E584-02B5-B155-FFC6-7051F256D8D6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10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C68A767-D179-CC3C-B0E7-DA01ADA9A08F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67BC6B-90DC-67D2-685E-64B0933C6C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7180811-CB39-200B-ADFC-EDF9985F260B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234339A-02CC-AB51-0C8D-405890D3A6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23E2B103-9216-F64B-6025-7416894394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ADE5E7C2-5A3C-1DEF-7ADB-7335772928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F81F8CAE-C08F-6341-93B9-55D726DD84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3F777E6C-5CFB-CBDA-F7F8-3F5BFFE853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F6AB84F5-EDF6-7E7C-3C6F-229EDD624C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3C37E121-BB6A-8C9B-F68C-315721C483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5AA46F7-D905-0923-FC82-BDB2C3CD3D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49A4697-9F5D-296E-FFBF-78918037BA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4D069AC3-D6DA-9AAA-6665-BDE10F34F2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1D5974E-A698-C84B-4B5D-145CD304214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B93011E-5F0D-1E44-195C-FA7692B00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F55A71B-E071-DDC6-02EF-259417694DB2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FFCF4210-5112-24E3-09C5-A2FC007597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0A68AEA3-067D-EDD2-2EFB-EAB16EA0E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05EB952-7FB7-3300-EB8C-92803A180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95A90C66-608F-534C-BEFB-E79887F866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A53094A-C392-AA62-9222-C86C22E6D2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9E332F3-5D97-5C77-2B23-5A60415A529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DF4F9A18-BF30-7576-7870-93A29F4F2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C4FBE82C-E962-F007-35A8-89DCB48508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FE3DD3F-4307-61A0-04F0-8F3D5FB3EA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04A077A-99ED-0EDB-739C-2966CB4DB9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5121A9DE-088B-EB90-A7F2-C025A280C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242D6F-E675-166E-95E5-F7238A50D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9950A4-E1AC-1567-843F-52F9C6B691D5}"/>
              </a:ext>
            </a:extLst>
          </p:cNvPr>
          <p:cNvSpPr txBox="1"/>
          <p:nvPr/>
        </p:nvSpPr>
        <p:spPr>
          <a:xfrm>
            <a:off x="628088" y="585256"/>
            <a:ext cx="5120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3200" b="1" dirty="0">
                <a:solidFill>
                  <a:srgbClr val="5D2462"/>
                </a:solidFill>
                <a:latin typeface="Arial"/>
              </a:rPr>
              <a:t>3.3V RX Protection: Voltage Divider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72C2EF-5D9F-473D-2D36-D119F4558D3E}"/>
              </a:ext>
            </a:extLst>
          </p:cNvPr>
          <p:cNvCxnSpPr>
            <a:cxnSpLocks/>
          </p:cNvCxnSpPr>
          <p:nvPr/>
        </p:nvCxnSpPr>
        <p:spPr>
          <a:xfrm>
            <a:off x="646376" y="1704660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DF33DE-44AA-A56D-223C-9D043DF53336}"/>
                  </a:ext>
                </a:extLst>
              </p:cNvPr>
              <p:cNvSpPr txBox="1"/>
              <p:nvPr/>
            </p:nvSpPr>
            <p:spPr>
              <a:xfrm>
                <a:off x="628088" y="2002576"/>
                <a:ext cx="5817684" cy="369748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en-US" b="1" dirty="0">
                    <a:solidFill>
                      <a:srgbClr val="5D2462"/>
                    </a:solidFill>
                    <a:latin typeface="Arial"/>
                  </a:rPr>
                  <a:t>• The 5V vs 3.3V Voltage Hazard: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Arduino TX pin outputs 5.0V pulses. The HC-05 RX pin is strictly rated for 3.3V maximum; 5V will burn out the RF chip.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b="1" dirty="0">
                    <a:solidFill>
                      <a:srgbClr val="5D2462"/>
                    </a:solidFill>
                    <a:latin typeface="Arial"/>
                  </a:rPr>
                  <a:t>• Resistive Divider Formula: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SA" i="1" dirty="0" smtClean="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 dirty="0" smtClean="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SA" i="1" dirty="0" smtClean="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ar-SA" i="1" dirty="0">
                        <a:solidFill>
                          <a:srgbClr val="282828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ar-SA" i="1" dirty="0" err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SA" i="1" dirty="0" err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SA" i="1" dirty="0" err="1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ar-SA" i="1" dirty="0">
                        <a:solidFill>
                          <a:srgbClr val="282828"/>
                        </a:solidFill>
                        <a:latin typeface="Cambria Math" panose="02040503050406030204" pitchFamily="18" charset="0"/>
                      </a:rPr>
                      <m:t>∗ </m:t>
                    </m:r>
                    <m:d>
                      <m:dPr>
                        <m:ctrlPr>
                          <a:rPr lang="ar-SA" i="1" dirty="0">
                            <a:solidFill>
                              <a:srgbClr val="282828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1+ </m:t>
                            </m:r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ar-SA" i="1" dirty="0">
                                <a:solidFill>
                                  <a:srgbClr val="282828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ar-SA" i="1" dirty="0">
                        <a:solidFill>
                          <a:srgbClr val="282828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ar-SA" dirty="0">
                  <a:solidFill>
                    <a:srgbClr val="282828"/>
                  </a:solidFill>
                  <a:latin typeface="Arial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With R1 = 1K</a:t>
                </a:r>
                <a:r>
                  <a:rPr lang="el-GR" dirty="0">
                    <a:solidFill>
                      <a:srgbClr val="282828"/>
                    </a:solidFill>
                    <a:latin typeface="Calibri"/>
                  </a:rPr>
                  <a:t>Ω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and R2 = 2K</a:t>
                </a:r>
                <a:r>
                  <a:rPr lang="el-GR" dirty="0">
                    <a:solidFill>
                      <a:srgbClr val="282828"/>
                    </a:solidFill>
                    <a:latin typeface="Calibri"/>
                  </a:rPr>
                  <a:t>Ω: </a:t>
                </a:r>
                <a:br>
                  <a:rPr lang="en-US" dirty="0">
                    <a:solidFill>
                      <a:srgbClr val="282828"/>
                    </a:solidFill>
                    <a:latin typeface="Calibri"/>
                  </a:rPr>
                </a:b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 err="1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𝑜𝑢𝑡</m:t>
                      </m:r>
                      <m:r>
                        <a:rPr lang="en-US" i="1" dirty="0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 = 5.0</m:t>
                      </m:r>
                      <m:r>
                        <a:rPr lang="en-US" i="1" dirty="0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 dirty="0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 ∗ (2000 / 3000) = 3.33</m:t>
                      </m:r>
                      <m:r>
                        <a:rPr lang="en-US" i="1" dirty="0" smtClean="0">
                          <a:solidFill>
                            <a:srgbClr val="282828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rgbClr val="282828"/>
                  </a:solidFill>
                  <a:latin typeface="Calibri"/>
                </a:endParaRPr>
              </a:p>
              <a:p>
                <a:pPr>
                  <a:spcBef>
                    <a:spcPts val="800"/>
                  </a:spcBef>
                </a:pPr>
                <a:r>
                  <a:rPr lang="en-US" b="1" dirty="0">
                    <a:solidFill>
                      <a:srgbClr val="5D2462"/>
                    </a:solidFill>
                    <a:latin typeface="Arial"/>
                  </a:rPr>
                  <a:t>• Asymmetric Level Shifting: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HC-05 TX outputs 3.3V logic HIGH. The ATmega328P minimum HIGH threshold is 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0.6 * 5V = 3.0V, so HC-05 TX connects directly!</a:t>
                </a:r>
              </a:p>
              <a:p>
                <a:pPr>
                  <a:spcBef>
                    <a:spcPts val="800"/>
                  </a:spcBef>
                </a:pPr>
                <a:r>
                  <a:rPr lang="en-US" b="1" dirty="0">
                    <a:solidFill>
                      <a:srgbClr val="5D2462"/>
                    </a:solidFill>
                    <a:latin typeface="Arial"/>
                  </a:rPr>
                  <a:t>• Implementation: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Place 1k</a:t>
                </a:r>
                <a:r>
                  <a:rPr lang="el-GR" dirty="0">
                    <a:solidFill>
                      <a:srgbClr val="282828"/>
                    </a:solidFill>
                    <a:latin typeface="Calibri"/>
                  </a:rPr>
                  <a:t>Ω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between Arduino D3 and HC-05 RX. Place 2k</a:t>
                </a:r>
                <a:r>
                  <a:rPr lang="el-GR" dirty="0">
                    <a:solidFill>
                      <a:srgbClr val="282828"/>
                    </a:solidFill>
                    <a:latin typeface="Calibri"/>
                  </a:rPr>
                  <a:t>Ω </a:t>
                </a:r>
                <a:r>
                  <a:rPr lang="en-US" dirty="0">
                    <a:solidFill>
                      <a:srgbClr val="282828"/>
                    </a:solidFill>
                    <a:latin typeface="Calibri"/>
                  </a:rPr>
                  <a:t>between HC-05 RX and GND.</a:t>
                </a:r>
                <a:endParaRPr dirty="0">
                  <a:solidFill>
                    <a:srgbClr val="282828"/>
                  </a:solidFill>
                  <a:latin typeface="Calibri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DF33DE-44AA-A56D-223C-9D043DF5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88" y="2002576"/>
                <a:ext cx="5817684" cy="3697487"/>
              </a:xfrm>
              <a:prstGeom prst="rect">
                <a:avLst/>
              </a:prstGeom>
              <a:blipFill>
                <a:blip r:embed="rId5"/>
                <a:stretch>
                  <a:fillRect l="-2411" t="-2310" r="-1887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Réglage Bluetooth Arduino – Arduino Bluetooth Code – BXNT">
            <a:extLst>
              <a:ext uri="{FF2B5EF4-FFF2-40B4-BE49-F238E27FC236}">
                <a16:creationId xmlns:a16="http://schemas.microsoft.com/office/drawing/2014/main" id="{C81D6252-DF11-375A-8BB7-8447DEFE55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142"/>
          <a:stretch>
            <a:fillRect/>
          </a:stretch>
        </p:blipFill>
        <p:spPr>
          <a:xfrm>
            <a:off x="6475270" y="1804762"/>
            <a:ext cx="4374324" cy="338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28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1C12-578C-01AB-826A-E6831CA1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D9704F-3440-CC3A-07D5-E82133EB3145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3A0A936-5A6D-549E-CED0-AD2833E972B8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1F087E9-5ED4-F1EC-B26D-7CFC78997D43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E63262F-B88E-AE99-3F35-4AF5B6B167C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31264F6-D22E-CD5A-3C42-3EB0D01F156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EE95E0D-BDDC-82A5-F119-4036461156C9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ADEDB891-92ED-EE22-6823-C3B18755FB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61B3B3DD-801E-F525-3785-6DED5706A2AA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F47C4DC-1652-615C-C47C-319995F6F054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B06D824-2237-1656-8D55-C06CC9C505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9A4686A-1220-9F86-69E1-026E42CED8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2D9D84C-0A5C-BD57-79CA-D3C70B9B140D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61EADEB7-C7E2-1A48-B484-2983DED67DE3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E4F090F-ECEE-B2BE-7AB4-065AB97657A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CDB2116-7729-A007-CC5D-A32C4F2134FD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608B34CE-9FCE-6D7F-8D13-A9D68E63BEBD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7864935A-0438-767D-9634-BDE1EA98BC86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EF885CC-F229-1868-D888-6B45A4BB29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E50BE175-B913-1B3D-2103-88339C827F70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8597478A-F688-CB87-7B0F-C463C1A1DE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976CCDD-16A1-7A9C-19F5-31B1215C25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699F82D7-D37F-2461-D16B-1A0C65CBE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4A17F0A0-62F4-B709-D45F-BF64D2B0EFA7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0FA00E1-AA30-A10A-24A1-F57723F64483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4268E1C-FC0A-9495-920B-601484B5BF43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9524927-D84D-22FC-0288-9A9EF72B4343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A1FC5CA-3957-D220-32A9-8679CE359FD0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227956-AC42-EF99-6B40-5BF23A629601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11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65F181A-B8E1-FEC3-6E44-A619B0EA5FAA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2754B4-2796-6DAF-CAFC-7DB77D26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63FEFDF-C7A0-7DCA-F700-9851396F7855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4BDE156-47EB-E62C-5913-2D6D07B5DA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8C76CCC-A609-1153-5171-D849096176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6851764-5CD7-9287-F841-47864313C0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A78BA39-E801-E08A-3230-4433A7FC98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F4B6CB9-1AAA-22B9-7B72-34246E1E34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2D29917-5B4F-C029-AB65-0F972021CD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61F4F0DD-5986-8C1C-4418-191F786619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89C8BF9-03EE-143E-8405-1527399667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5A00E54-C6CF-2A2D-3C18-1E3354A418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6304AFE-5035-8316-2926-440BFFCAD0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42387C0-FBCA-1676-235D-8168AAC3A1F0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ABC36EB-8E21-6E36-6FE7-27510B6BE1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57EA213-C4B0-61AF-5C8E-250C979DCB27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0B02040F-77DA-B4C0-C001-D75AC58A8D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85BE79F-289F-4E60-8002-C6E38B7BD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E160C7C-D472-1678-6791-2226194244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ED0566C-BAF0-A78F-B001-21426DE53F6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44DD76BC-0117-8799-FBA8-8BB036C8A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518734DD-D757-B5CB-613B-F754C86F28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A44FECFE-B431-EF8C-911A-4920C21B4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F274848F-2DCF-AF8A-6370-D8D885D153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84E8053C-418A-E61D-7B24-4ACC6CCB92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307C7F0D-B845-1376-409B-12550B6A26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10E6BD54-D568-F03C-D284-F3EBDCC1A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C8DD38-77DD-FCFE-A4B4-6AC16D9AE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26027C-2762-0FB5-4B08-A11329AA21C0}"/>
              </a:ext>
            </a:extLst>
          </p:cNvPr>
          <p:cNvSpPr txBox="1"/>
          <p:nvPr/>
        </p:nvSpPr>
        <p:spPr>
          <a:xfrm>
            <a:off x="702719" y="708366"/>
            <a:ext cx="43555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100">
                <a:solidFill>
                  <a:srgbClr val="111111"/>
                </a:solidFill>
                <a:latin typeface="Arial Black"/>
              </a:defRPr>
            </a:pPr>
            <a:r>
              <a:rPr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Dabble App</a:t>
            </a:r>
            <a:r>
              <a:rPr sz="2400" b="1" dirty="0">
                <a:solidFill>
                  <a:srgbClr val="5D2462"/>
                </a:solidFill>
                <a:latin typeface="Arial"/>
              </a:rPr>
              <a:t> Mobile Bluetooth Gamepad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895EE03-1259-7FC9-E330-7A64A54956A2}"/>
              </a:ext>
            </a:extLst>
          </p:cNvPr>
          <p:cNvCxnSpPr>
            <a:cxnSpLocks/>
          </p:cNvCxnSpPr>
          <p:nvPr/>
        </p:nvCxnSpPr>
        <p:spPr>
          <a:xfrm>
            <a:off x="721007" y="1896595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1632833-B748-C300-3B62-436AFF2BE6A9}"/>
              </a:ext>
            </a:extLst>
          </p:cNvPr>
          <p:cNvSpPr txBox="1"/>
          <p:nvPr/>
        </p:nvSpPr>
        <p:spPr>
          <a:xfrm>
            <a:off x="756262" y="2081207"/>
            <a:ext cx="5455920" cy="3549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2800" b="1" dirty="0">
                <a:solidFill>
                  <a:srgbClr val="5D2462"/>
                </a:solidFill>
                <a:latin typeface="Arial"/>
              </a:rPr>
              <a:t>• In-App Bluetooth Pairing: </a:t>
            </a:r>
            <a:r>
              <a:rPr sz="2800" dirty="0">
                <a:solidFill>
                  <a:srgbClr val="282828"/>
                </a:solidFill>
                <a:latin typeface="Calibri"/>
              </a:rPr>
              <a:t>Open Dabble -&gt; tap the Connect icon -&gt; select HC-05. LED transitions to double-blink.</a:t>
            </a:r>
          </a:p>
          <a:p>
            <a:pPr>
              <a:spcBef>
                <a:spcPts val="800"/>
              </a:spcBef>
            </a:pPr>
            <a:r>
              <a:rPr sz="2800" b="1" dirty="0">
                <a:solidFill>
                  <a:srgbClr val="5D2462"/>
                </a:solidFill>
                <a:latin typeface="Arial"/>
              </a:rPr>
              <a:t>• Gamepad Module Capabilities: </a:t>
            </a:r>
            <a:r>
              <a:rPr sz="2800" dirty="0">
                <a:solidFill>
                  <a:srgbClr val="282828"/>
                </a:solidFill>
                <a:latin typeface="Calibri"/>
              </a:rPr>
              <a:t>Provides both Digital </a:t>
            </a:r>
            <a:r>
              <a:rPr lang="en-US" sz="2800" dirty="0">
                <a:solidFill>
                  <a:srgbClr val="282828"/>
                </a:solidFill>
                <a:latin typeface="Calibri"/>
              </a:rPr>
              <a:t> </a:t>
            </a:r>
            <a:r>
              <a:rPr sz="2800" dirty="0">
                <a:solidFill>
                  <a:srgbClr val="282828"/>
                </a:solidFill>
                <a:latin typeface="Calibri"/>
              </a:rPr>
              <a:t>D-Pad (Up, Down, Left, Right) and an Analog 360° Joystick.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C669C9-8757-84C8-F7B7-56E100E84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3677" y="1644527"/>
            <a:ext cx="3167003" cy="316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83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B224-F4C2-8554-FDA6-532B918C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400165-A352-310D-854B-AEBC6F39BB67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B7B6B63-6559-B079-1E5C-14C91B55D237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97CABF-5F0E-59DB-5F38-BB25C1E9688F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3A4642C-01D7-A0CE-7E5A-6B8CCB825381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946704C-8B43-259F-8CA8-89228134C936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4D87A3D-5D4B-A3B4-9044-9736EC92103B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6936ED-32C9-6B5A-AE31-B47CB98770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EC1A1A5-6E0F-47A9-55E0-7DB4CDC373A4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C96394B-BFED-37CA-75E5-552658E7960B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07C8F57-046B-BA3B-C4A0-0EF6D86A76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0AAA72C-B46E-6FE3-512E-FBE547CAA2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17A77DA-CE6C-A518-A9FB-305920BC3F27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E38A3F8-DD27-BC83-C546-B86625E47DB6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C5107FF-99D9-44EE-EF67-2E4D7A7A5247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41667EA-F5A2-5B3F-592B-702DF7CF4D95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484B92E-5EF3-0F6A-709A-CE5EFA4805F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1A7282EE-C225-7F4D-C029-E3B0F4A0A182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022C3AE1-876D-A325-DFA6-3584710B9F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BA6F82E2-0B43-1E42-4576-0B2CD9156523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F96A5235-2114-77DA-3DB0-F998711886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8F59509E-B239-3792-58C2-3938CF5A9C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CA4BA32C-2F0B-6542-E2AD-5F75A3985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6372DD8-2A11-2513-44D8-0628B46C1603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6918B36D-C471-7FDE-A6FF-810A070F3774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7E3BD90-D497-6EBC-F780-A1DD538CC436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ABC8C352-75DF-64DD-1AFA-2D5D69DA3C00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F752A0-90AC-017F-31DE-23C4B22E07D4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AB1FA06-5BA4-F9AD-0C64-E24BDE9AF75E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12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143BB26-DE88-2C76-EAC3-D56770A3D84D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3F9F218-AB2D-36F1-A2B5-BD705BAD7B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00D7710-1E3B-FEDF-1144-797B5A876A3E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07D8EE6-8CBD-7300-E2C7-C2929C8DAA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8A4F7F7-4179-9F70-3852-D36D11707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18039D4-2549-23E2-9B4F-CBE4115D54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4121624-8DB5-C853-75BE-C55B74E2B2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21CAC91-530E-E37F-4052-B44BCA75CFA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53762B3D-48C1-5C4D-0626-61E5B7840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F8D649-2DF0-740B-DD22-C5FBD324D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1986EB2-10A6-CAD4-C148-F6177AE6A5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99221D4-39D1-F6FE-9261-2FB76EA99B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2201BA9D-E831-1A47-1B9B-FFEC25A030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B881EA9-50F9-9CC7-1E1A-F72381E68204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C4ECC40-F57E-E377-705D-CBDAF49639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4C38DC5-5045-66A1-EE9C-D61CC93D2420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B6C5806-27DD-A5A1-7A03-3AB6470CE8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CC9A074-DDEB-6ED6-612B-9A57070EB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E2D01E64-F3C6-B07E-0DC6-6FD0954C3E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C3ED2DA5-CBAB-B096-179D-D420ECAA1A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5A35CA0-7507-E853-56E3-2C539A85EC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889830E-04D7-3428-7DCA-6419D6265F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07FA681B-3154-BF1D-C970-6189D6448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FA1869A0-1405-17CF-6027-E424DC360A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F0CBEF9-9586-6C8B-8C77-53F23C0D78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6CB4DD9-575A-CF34-2186-58DE7918F0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38B87153-3F93-523C-FBD7-112765BB5D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CAAC06-0C9F-9623-3160-32677FB77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0AF285-07E1-DD23-D0C4-457DD479AF77}"/>
              </a:ext>
            </a:extLst>
          </p:cNvPr>
          <p:cNvSpPr txBox="1"/>
          <p:nvPr/>
        </p:nvSpPr>
        <p:spPr>
          <a:xfrm>
            <a:off x="603689" y="651661"/>
            <a:ext cx="95595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5D2462"/>
                </a:solidFill>
                <a:latin typeface="Arial"/>
              </a:defRPr>
            </a:pPr>
            <a:r>
              <a:rPr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Naming Pins &amp; Importing Dabble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1E79E-A20B-69A1-87A6-02AD6F49F24F}"/>
              </a:ext>
            </a:extLst>
          </p:cNvPr>
          <p:cNvCxnSpPr>
            <a:cxnSpLocks/>
          </p:cNvCxnSpPr>
          <p:nvPr/>
        </p:nvCxnSpPr>
        <p:spPr>
          <a:xfrm>
            <a:off x="603689" y="1372808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7345325-E997-45D5-0DCF-765D777B6296}"/>
              </a:ext>
            </a:extLst>
          </p:cNvPr>
          <p:cNvSpPr txBox="1"/>
          <p:nvPr/>
        </p:nvSpPr>
        <p:spPr>
          <a:xfrm>
            <a:off x="639286" y="1669163"/>
            <a:ext cx="8470458" cy="4001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dirty="0">
                <a:solidFill>
                  <a:srgbClr val="5D2462"/>
                </a:solidFill>
                <a:latin typeface="Arial"/>
              </a:rPr>
              <a:t>• What is #include?: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Think of #include &lt;</a:t>
            </a:r>
            <a:r>
              <a:rPr sz="2000" dirty="0" err="1">
                <a:solidFill>
                  <a:srgbClr val="282828"/>
                </a:solidFill>
                <a:latin typeface="Calibri"/>
              </a:rPr>
              <a:t>Dabble.h</a:t>
            </a:r>
            <a:r>
              <a:rPr sz="2000" dirty="0">
                <a:solidFill>
                  <a:srgbClr val="282828"/>
                </a:solidFill>
                <a:latin typeface="Calibri"/>
              </a:rPr>
              <a:t>&gt; as opening a toolbox. It gives Arduino new powers (Bluetooth joystick communication) without us writing thousands of lines.</a:t>
            </a:r>
          </a:p>
          <a:p>
            <a:pPr>
              <a:spcBef>
                <a:spcPts val="800"/>
              </a:spcBef>
            </a:pPr>
            <a:r>
              <a:rPr lang="en-US" sz="2000" b="1" dirty="0">
                <a:solidFill>
                  <a:srgbClr val="5D2462"/>
                </a:solidFill>
                <a:latin typeface="Arial"/>
              </a:rPr>
              <a:t>• What is const int?: </a:t>
            </a:r>
            <a:r>
              <a:rPr lang="en-US" sz="2000" dirty="0">
                <a:solidFill>
                  <a:srgbClr val="282828"/>
                </a:solidFill>
                <a:latin typeface="Calibri"/>
              </a:rPr>
              <a:t>const int ENA = 5; creates a permanent nickname for Pin 5. Instead of memorizing confusing numbers, we use clear labels like ENA, IN1, and BUTTON_PIN.</a:t>
            </a:r>
            <a:endParaRPr lang="en-US" sz="2000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Why Pins 10 &amp; 11?: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Digital Pins 0 and 1 are reserved for the USB cable. We use Pins 10 and 11 for Bluetooth so we can upload code and debug at the same time without conflicts.</a:t>
            </a:r>
            <a:endParaRPr lang="en-US" sz="2000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sz="2000" b="1" dirty="0">
                <a:solidFill>
                  <a:srgbClr val="5D2462"/>
                </a:solidFill>
                <a:latin typeface="Arial"/>
              </a:rPr>
              <a:t>• Variables &amp; Flags: </a:t>
            </a:r>
            <a:r>
              <a:rPr sz="2000" dirty="0">
                <a:solidFill>
                  <a:srgbClr val="282828"/>
                </a:solidFill>
                <a:latin typeface="Calibri"/>
              </a:rPr>
              <a:t>const int SPEED = 200; sets motor power (0 to 255). bool matchStarted = false; is a yes/no switch that keeps the robot locked until the referee starts the match.</a:t>
            </a:r>
          </a:p>
        </p:txBody>
      </p:sp>
    </p:spTree>
    <p:extLst>
      <p:ext uri="{BB962C8B-B14F-4D97-AF65-F5344CB8AC3E}">
        <p14:creationId xmlns:p14="http://schemas.microsoft.com/office/powerpoint/2010/main" val="966628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F96E3-537A-9132-0ECA-A90C46F9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7FBAA7-1BAF-616D-6E34-66D8B5981749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FC7CAF3-24E6-1600-8E9F-AAECB312CD75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1726E65-0DCF-C81E-589D-E00D3AD1EF1E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15CAC58-6574-4ADF-370C-06A60D525D8E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3E46629-6CAC-E644-CF1E-857EDE4CDB83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55F3F01-3904-7915-A949-9DC415F7CC12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15A14965-1576-ED6E-C302-1AE2570450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294017D3-D46C-EB20-AEC9-9992C21FB42B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0CA7031-14AA-414D-D6DF-97E4381D3DC9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2FF6BBAE-143E-58B6-B255-69F7C836A6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8FF8335-B0E7-FB15-2889-098C1D46D0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A961F51-EA6C-B0F3-0E3D-274FEE17AFC3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EBA7D6DE-DC70-48D7-8718-A10ECA1ED3EE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E5EB926-537A-2C8C-B0B6-3029735C0D71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61E8EA3-FD53-45FB-3CD5-4E5DF1065757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E15EEF25-1A49-ACC2-8978-E5DA7C71BECD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493F6F48-2257-DD85-E76C-88E7F9DFC308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75AEAC19-5387-D3FF-537F-B8229CAB25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96AF5D2-E45B-A499-D181-4E50DECB47A2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3F03BC4B-AD7E-D1A3-B818-001A872402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657B972-BE90-9B0F-3B1F-CEF84F8385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DF7D6BC9-0921-B612-DE75-C194A81B7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B8942010-8FC9-E3D3-40D8-F1A33CC9FF55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963AF8E-295A-71A9-DEFE-926C45E80799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DE083F5-7305-824E-EE81-C7E467E82FF5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1C7EB5D3-42E0-9B98-C26B-3628977C9A8F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975A42-71D8-12AF-FF2B-CE2B87E0CC75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B3B088-81D4-CDE6-8462-22E24AD4E9B7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13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2EBD276-620C-5DFA-16B1-10ECF84CA5CE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F8A2C3-6287-5A36-6944-588DA4657F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46B1D83-41ED-9C0A-BCB6-A90D5D195E51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A094E0D-7F39-A5D6-8D03-ED6FBE1AF1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98D8B3D-4F38-AA1B-400B-84B268F92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DCF9F29-DB17-B5DD-4DE9-F41F4EAB1DF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E9DDDA7-74BA-EDF8-0FDD-869AFED5E6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4A1383B5-0F85-BB10-AC59-11FE41A514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2FA8F855-F9BA-6B63-08ED-D889E410EEC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E434C89-CDAC-72AF-2459-DEF3A1D6DE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8C102E5-2088-F1AB-A964-E2BE7FCEC5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7544D40-FE44-CB10-C90D-B73B00B36D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37BC7F69-C6B4-E31E-6E80-B2DF679FF6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00BC054-70FD-37A3-D4BC-E9D5C538CF53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9DFA0BF-5FC8-74DF-5DF9-AADF606139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ED80B88-1AE1-34F8-6254-65A6CB75564A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BD2E570-C35D-FA15-37D0-015BC3570D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DD60C1DA-1C31-DE92-CC76-8971FA6A0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03F3ABE0-67ED-6A5C-8B9A-01947CA340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0B20A1ED-8CD8-D008-9556-C64EA66870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10AFEB72-CF92-F93E-3C7A-B4FD10B9BB4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A7913864-DDDB-F4F2-F744-BD2D7AF7D3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86E66F9-FCE5-B254-BDA3-3E91F43970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9C4B43B4-482C-D03C-136B-96D69E9A2F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D5713DC-14D4-C7CF-CF29-758BFBAD2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A52CD95-7A34-0417-6D2E-D2C8464F1A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5F3F6D1-A471-A54C-4EC0-5F03538A9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3F647-2691-98E7-9B1C-172FCBA17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0A093F-9143-FEB1-A5D4-4FC44BAF522B}"/>
              </a:ext>
            </a:extLst>
          </p:cNvPr>
          <p:cNvSpPr txBox="1"/>
          <p:nvPr/>
        </p:nvSpPr>
        <p:spPr>
          <a:xfrm>
            <a:off x="627085" y="750405"/>
            <a:ext cx="725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5D2462"/>
                </a:solidFill>
                <a:latin typeface="Arial"/>
              </a:defRPr>
            </a:pPr>
            <a:r>
              <a:rPr sz="2400" dirty="0"/>
              <a:t>What Happens the Moment Arduino Powers 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39782B-34C7-2058-C650-68FD20395B85}"/>
              </a:ext>
            </a:extLst>
          </p:cNvPr>
          <p:cNvCxnSpPr>
            <a:cxnSpLocks/>
          </p:cNvCxnSpPr>
          <p:nvPr/>
        </p:nvCxnSpPr>
        <p:spPr>
          <a:xfrm>
            <a:off x="627085" y="1245645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62C82A-B47A-5838-127B-07690AC8E209}"/>
              </a:ext>
            </a:extLst>
          </p:cNvPr>
          <p:cNvSpPr txBox="1"/>
          <p:nvPr/>
        </p:nvSpPr>
        <p:spPr>
          <a:xfrm>
            <a:off x="577880" y="1354531"/>
            <a:ext cx="7884959" cy="4113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5D2462"/>
                </a:solidFill>
                <a:latin typeface="Arial"/>
              </a:rPr>
              <a:t>• What is setup()?: </a:t>
            </a:r>
            <a:r>
              <a:rPr dirty="0">
                <a:solidFill>
                  <a:srgbClr val="282828"/>
                </a:solidFill>
                <a:latin typeface="Calibri"/>
              </a:rPr>
              <a:t>Every Arduino program must have a setup() function. Arduino runs this code ONLY ONCE the exact second it gets battery power to configure hardware.</a:t>
            </a:r>
            <a:endParaRPr lang="en-US" dirty="0">
              <a:solidFill>
                <a:srgbClr val="282828"/>
              </a:solidFill>
              <a:latin typeface="Calibri"/>
            </a:endParaRPr>
          </a:p>
          <a:p>
            <a:endParaRPr dirty="0">
              <a:solidFill>
                <a:srgbClr val="282828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pinMode(pin, OUTPUT): </a:t>
            </a:r>
            <a:r>
              <a:rPr dirty="0">
                <a:solidFill>
                  <a:srgbClr val="282828"/>
                </a:solidFill>
                <a:latin typeface="Calibri"/>
              </a:rPr>
              <a:t>Tells Arduino that this pin will TALK</a:t>
            </a:r>
            <a:r>
              <a:rPr lang="en-US" dirty="0">
                <a:solidFill>
                  <a:srgbClr val="282828"/>
                </a:solidFill>
                <a:latin typeface="Calibri"/>
              </a:rPr>
              <a:t> </a:t>
            </a:r>
            <a:r>
              <a:rPr dirty="0">
                <a:solidFill>
                  <a:srgbClr val="282828"/>
                </a:solidFill>
                <a:latin typeface="Calibri"/>
              </a:rPr>
              <a:t>it will send electricity out to the L298N motor driver to turn wheels, or power the status LED.</a:t>
            </a:r>
          </a:p>
          <a:p>
            <a:pPr>
              <a:spcBef>
                <a:spcPts val="800"/>
              </a:spcBef>
            </a:pPr>
            <a:endParaRPr lang="en-US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pinMode(pin, INPUT): </a:t>
            </a:r>
            <a:r>
              <a:rPr dirty="0">
                <a:solidFill>
                  <a:srgbClr val="282828"/>
                </a:solidFill>
                <a:latin typeface="Calibri"/>
              </a:rPr>
              <a:t>Tells Arduino that this pin will LISTEN</a:t>
            </a:r>
            <a:r>
              <a:rPr lang="en-US" dirty="0">
                <a:solidFill>
                  <a:srgbClr val="282828"/>
                </a:solidFill>
                <a:latin typeface="Calibri"/>
              </a:rPr>
              <a:t> </a:t>
            </a:r>
            <a:r>
              <a:rPr dirty="0">
                <a:solidFill>
                  <a:srgbClr val="282828"/>
                </a:solidFill>
                <a:latin typeface="Calibri"/>
              </a:rPr>
              <a:t>it will read whether 5V is flowing in from the push button on Pin 8 when pressed.</a:t>
            </a:r>
          </a:p>
          <a:p>
            <a:pPr>
              <a:spcBef>
                <a:spcPts val="800"/>
              </a:spcBef>
            </a:pPr>
            <a:endParaRPr lang="en-US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Dabble.begin(9600): </a:t>
            </a:r>
            <a:r>
              <a:rPr dirty="0">
                <a:solidFill>
                  <a:srgbClr val="282828"/>
                </a:solidFill>
                <a:latin typeface="Calibri"/>
              </a:rPr>
              <a:t>Wakes up the Bluetooth link at 9600 baud, telling it that Pin 10 receives data from HC-05 and Pin 11 sends data. stop Motors() ensures safety at boot.</a:t>
            </a:r>
          </a:p>
        </p:txBody>
      </p:sp>
    </p:spTree>
    <p:extLst>
      <p:ext uri="{BB962C8B-B14F-4D97-AF65-F5344CB8AC3E}">
        <p14:creationId xmlns:p14="http://schemas.microsoft.com/office/powerpoint/2010/main" val="365504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B4F6-78A8-73CD-2CB6-1ABAA6DAB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E46030-74D7-42E3-4EB4-110099AD5E58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BBD6E27-0564-87DC-8499-C619FCE25620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63560E6-EEAF-B199-F666-2D52A6458195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798DE65-724F-4610-D3BC-C288008F431D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755773A-798D-6F7A-48FB-DCB91AE340A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44D85D1-D5B1-3628-16B9-5E55B436E65B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3EBB2062-4ACF-FD42-59F6-ADD7BF799C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EA375A47-17A3-D1D2-6810-BB2F376F0066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2702C7E4-B78E-3652-9CD2-85445F8168E8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8FA0ED7-30D5-98D2-7583-1F8C41950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F3021F2-28C0-C54F-11EF-D37DCAEBE2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920896-8590-507C-7C06-31D40A2A5479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9B8B453-5604-8798-099F-5B7303085B19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1631397-8B9E-6BE3-3725-3E1C12975CA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7107087F-14C2-1FCF-1CA9-03C9873626F3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DFFA84A-4629-B3B6-E136-D2615918C2F4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2C726532-C5D5-8E00-A27F-F4555000B71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502D138C-8CBE-4A04-59FF-B650676E79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C038FBC1-6BEC-9276-1A7F-5BCFC6A0098A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AE03055A-2011-CF9C-A7F3-524DC2D255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C8EDF0F-6005-4753-2AE0-6DDD03FD7A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1F8E67C4-F444-F669-458A-FCE17F45B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9FA3801B-4F7F-19AD-D19A-3BFE058E6031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A1BFF201-2590-49B3-47FB-F4CAE545770E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4DE116D3-5927-10B9-ED80-A2456F5087B8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BC9114DA-EF81-2317-636A-3E16AD2F26D9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943BCE6-7FB7-C008-B076-8B4047E3C95B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9E18B1-E113-1814-F598-FC3E15D85876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14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C333C67-EBB5-A0FA-F0D2-5DE48F8A1CDB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938B09-6CEC-A50A-E3D8-D2F939B2E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97AB581-70D5-D044-3F37-E374AC0D1F47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5C13239-D4DC-F962-1C25-83EA2ED89A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C1D46F3-8F7B-0491-9753-4EF6468DDA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860B06C-74D4-60E2-EB61-6547961F9D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15703A0-5B6F-C694-C1F0-241ABA19168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728E7F19-A931-EF21-178E-064765CC43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35EFFCD9-C187-E5DA-656F-38A99DA35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7B2CD93F-D393-0C54-0660-F6D6664B9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8CA1E9EF-2CD8-2FF9-E55C-0CDDF745EB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D969A15-1D22-2EE8-627B-29932E7E4C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B360F7D-554B-3198-F346-E8E8D69499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D3A946A-1F45-CEBB-1EED-BE6AF3CE226E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AC139CD-4022-71F9-7DFC-063D625F7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42A4AD8-9246-92FC-1BEA-82F89AC9040E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C5E60B9-58FB-8E15-6D05-CFC654C99D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830E0E1F-0377-71BA-547C-B6EFDEB6E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4640DC6A-C464-7020-237F-F493D918AC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85F447-709D-0E93-5570-3CDBBAC9B4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9DF4E311-03E8-5EA7-A15A-BC3D68A599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D78EB292-EB0D-119A-A8B9-112BED1284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57D71160-EC06-6A05-D355-BA9DDC9631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1C682024-527C-87F6-FA36-D33E5B05CC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46255ECF-C1FC-8EF7-1A50-DB6CBC4F83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232220CC-E138-B80E-FCF5-16E7A58157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FE13CA43-6818-6F44-2857-B0AEFBEF4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687B10-202B-607B-ACF4-7FC96B5762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6A8A5A-9E6C-B751-80AB-8CC11941C3FA}"/>
              </a:ext>
            </a:extLst>
          </p:cNvPr>
          <p:cNvSpPr txBox="1"/>
          <p:nvPr/>
        </p:nvSpPr>
        <p:spPr>
          <a:xfrm>
            <a:off x="606885" y="708366"/>
            <a:ext cx="5120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5D2462"/>
                </a:solidFill>
                <a:latin typeface="Arial"/>
              </a:defRPr>
            </a:pPr>
            <a:r>
              <a:rPr lang="en-US" sz="2400" dirty="0"/>
              <a:t>How the Robot Reads Your Smartphone Commands</a:t>
            </a:r>
            <a:endParaRPr sz="2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686576-1076-FF7A-59F4-4286D017DD0E}"/>
              </a:ext>
            </a:extLst>
          </p:cNvPr>
          <p:cNvCxnSpPr>
            <a:cxnSpLocks/>
          </p:cNvCxnSpPr>
          <p:nvPr/>
        </p:nvCxnSpPr>
        <p:spPr>
          <a:xfrm>
            <a:off x="606885" y="1650295"/>
            <a:ext cx="2286000" cy="0"/>
          </a:xfrm>
          <a:prstGeom prst="line">
            <a:avLst/>
          </a:prstGeom>
          <a:ln w="2857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5D27E18-7D98-83AD-07B0-10335B5B8C6D}"/>
              </a:ext>
            </a:extLst>
          </p:cNvPr>
          <p:cNvSpPr txBox="1"/>
          <p:nvPr/>
        </p:nvSpPr>
        <p:spPr>
          <a:xfrm>
            <a:off x="687499" y="2033283"/>
            <a:ext cx="7523631" cy="30777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dirty="0">
                <a:solidFill>
                  <a:srgbClr val="5D2462"/>
                </a:solidFill>
                <a:latin typeface="Arial"/>
              </a:rPr>
              <a:t>• What is loop()?: </a:t>
            </a:r>
            <a:r>
              <a:rPr dirty="0">
                <a:solidFill>
                  <a:srgbClr val="282828"/>
                </a:solidFill>
                <a:latin typeface="Calibri"/>
              </a:rPr>
              <a:t>After setup(), Arduino runs loop() over and over, thousands of times every second! It is the robot's continuous beating brain.</a:t>
            </a: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Dabble.processInput(): </a:t>
            </a:r>
            <a:r>
              <a:rPr dirty="0">
                <a:solidFill>
                  <a:srgbClr val="282828"/>
                </a:solidFill>
                <a:latin typeface="Calibri"/>
              </a:rPr>
              <a:t>Must be called on every loop. It listens to the Bluetooth module, unpacks data from your phone, and checks which button you are touching.</a:t>
            </a:r>
            <a:endParaRPr lang="en-US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if / else Decisions: </a:t>
            </a:r>
            <a:r>
              <a:rPr dirty="0">
                <a:solidFill>
                  <a:srgbClr val="282828"/>
                </a:solidFill>
                <a:latin typeface="Calibri"/>
              </a:rPr>
              <a:t>If you press UP (GamePad.isUpPressed()), it calls moveForward(). If DOWN, it calls reverse(). If LEFT or RIGHT, it spins on the spot.</a:t>
            </a:r>
            <a:endParaRPr lang="en-US" b="1" dirty="0">
              <a:solidFill>
                <a:srgbClr val="5D2462"/>
              </a:solidFill>
              <a:latin typeface="Arial"/>
            </a:endParaRPr>
          </a:p>
          <a:p>
            <a:pPr>
              <a:spcBef>
                <a:spcPts val="800"/>
              </a:spcBef>
            </a:pPr>
            <a:r>
              <a:rPr b="1" dirty="0">
                <a:solidFill>
                  <a:srgbClr val="5D2462"/>
                </a:solidFill>
                <a:latin typeface="Arial"/>
              </a:rPr>
              <a:t>• Analog Stick &amp; Auto-Stop: </a:t>
            </a:r>
            <a:r>
              <a:rPr dirty="0">
                <a:solidFill>
                  <a:srgbClr val="282828"/>
                </a:solidFill>
                <a:latin typeface="Calibri"/>
              </a:rPr>
              <a:t>GamePad.getX() and getY() read stick deflection (-7 to +7). If you lift your thumb (values near 0), else { stopMotors(); } brakes immediately!</a:t>
            </a:r>
          </a:p>
        </p:txBody>
      </p:sp>
    </p:spTree>
    <p:extLst>
      <p:ext uri="{BB962C8B-B14F-4D97-AF65-F5344CB8AC3E}">
        <p14:creationId xmlns:p14="http://schemas.microsoft.com/office/powerpoint/2010/main" val="54993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12064-4F9A-E9B6-6D2B-C89325AD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7E1D323-E098-DE06-BAB7-613C699FB83D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1BD8F7A-EC35-75A9-1611-C7F0B6112DC5}"/>
              </a:ext>
            </a:extLst>
          </p:cNvPr>
          <p:cNvGrpSpPr/>
          <p:nvPr/>
        </p:nvGrpSpPr>
        <p:grpSpPr>
          <a:xfrm flipH="1">
            <a:off x="10351477" y="853644"/>
            <a:ext cx="199307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AF5824E-0814-6800-5FED-8E77290A44BD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5DBC97A-ECAD-6D3C-4ACF-F770498E8A78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ED7A69C-6F15-7F9F-7370-3777ADF14888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385A34A-8798-560F-6076-B97CC1791038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6F9FC41E-E975-AA65-08D3-EF0A12CB7C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C3C69378-0F01-009B-3000-4F397CBC7685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B5050BF-717F-3609-112C-E3781F7D3481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432A9B68-B0B1-D226-AB6B-6DDCB8A055A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16619FB-936D-7570-57CB-0ED6C2ED08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47F236A-A613-20ED-12BA-2F748829AA76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175E58FF-9CCC-5D17-4DC2-74DE1294A4D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ED64646A-884A-E350-2A2C-708B518856C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642A263C-0E68-5B94-FB42-9190C33E380D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2B5A55D-BE54-43DD-2A9A-1CEF8687DEAC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DDD6F3C9-073C-EEA5-F515-9F817780421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80FD6DE3-1181-BF92-1C0C-85D22F8117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D3FFF986-717A-ECF1-8EE9-87AC2D360333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518D8794-7697-5286-09FB-535995D464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E3030986-A29A-7312-7DF1-02FD9BC753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37" name="Picture 136">
            <a:extLst>
              <a:ext uri="{FF2B5EF4-FFF2-40B4-BE49-F238E27FC236}">
                <a16:creationId xmlns:a16="http://schemas.microsoft.com/office/drawing/2014/main" id="{373767AB-0E03-D852-2410-29C17C720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655" y="5690616"/>
            <a:ext cx="3997830" cy="1086220"/>
          </a:xfrm>
          <a:prstGeom prst="rect">
            <a:avLst/>
          </a:prstGeom>
        </p:spPr>
      </p:pic>
      <p:sp>
        <p:nvSpPr>
          <p:cNvPr id="142" name="TextBox 141">
            <a:extLst>
              <a:ext uri="{FF2B5EF4-FFF2-40B4-BE49-F238E27FC236}">
                <a16:creationId xmlns:a16="http://schemas.microsoft.com/office/drawing/2014/main" id="{C69BCC18-B2F5-DF0B-7B40-057CE779C7EA}"/>
              </a:ext>
            </a:extLst>
          </p:cNvPr>
          <p:cNvSpPr txBox="1"/>
          <p:nvPr/>
        </p:nvSpPr>
        <p:spPr>
          <a:xfrm>
            <a:off x="671527" y="6121297"/>
            <a:ext cx="19434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BankGothic Md BT" panose="020B0807020203060204" pitchFamily="34" charset="0"/>
              </a:rPr>
              <a:t>SESSION  2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1E8ED7EE-934E-46E9-0CCE-7F7985D031D4}"/>
              </a:ext>
            </a:extLst>
          </p:cNvPr>
          <p:cNvCxnSpPr>
            <a:cxnSpLocks/>
          </p:cNvCxnSpPr>
          <p:nvPr/>
        </p:nvCxnSpPr>
        <p:spPr>
          <a:xfrm>
            <a:off x="2777924" y="6342217"/>
            <a:ext cx="22803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B3ECDCC5-364B-DB91-31BA-0858DE13F559}"/>
              </a:ext>
            </a:extLst>
          </p:cNvPr>
          <p:cNvCxnSpPr>
            <a:cxnSpLocks/>
          </p:cNvCxnSpPr>
          <p:nvPr/>
        </p:nvCxnSpPr>
        <p:spPr>
          <a:xfrm>
            <a:off x="8201400" y="5984260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ECABA710-C711-ABAD-82C2-8078B3005C29}"/>
              </a:ext>
            </a:extLst>
          </p:cNvPr>
          <p:cNvSpPr txBox="1"/>
          <p:nvPr/>
        </p:nvSpPr>
        <p:spPr>
          <a:xfrm>
            <a:off x="4371344" y="1782674"/>
            <a:ext cx="3449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LAB_2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9E74BCC2-2C69-113D-26F6-496166660110}"/>
              </a:ext>
            </a:extLst>
          </p:cNvPr>
          <p:cNvSpPr txBox="1"/>
          <p:nvPr/>
        </p:nvSpPr>
        <p:spPr>
          <a:xfrm>
            <a:off x="8976723" y="308430"/>
            <a:ext cx="4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Agency FB" panose="020B0503020202020204" pitchFamily="34" charset="0"/>
              </a:rPr>
              <a:t>Hands-On Robotics Workshop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9472E1F-244E-ED5E-569E-6A785DD3F4B5}"/>
              </a:ext>
            </a:extLst>
          </p:cNvPr>
          <p:cNvCxnSpPr>
            <a:cxnSpLocks/>
          </p:cNvCxnSpPr>
          <p:nvPr/>
        </p:nvCxnSpPr>
        <p:spPr>
          <a:xfrm>
            <a:off x="949124" y="524030"/>
            <a:ext cx="8027599" cy="0"/>
          </a:xfrm>
          <a:prstGeom prst="line">
            <a:avLst/>
          </a:prstGeom>
          <a:ln>
            <a:gradFill>
              <a:gsLst>
                <a:gs pos="0">
                  <a:srgbClr val="391935"/>
                </a:gs>
                <a:gs pos="100000">
                  <a:srgbClr val="A300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14203E-ED93-1E38-D673-935F4E4829D6}"/>
              </a:ext>
            </a:extLst>
          </p:cNvPr>
          <p:cNvSpPr txBox="1"/>
          <p:nvPr/>
        </p:nvSpPr>
        <p:spPr>
          <a:xfrm>
            <a:off x="206390" y="274313"/>
            <a:ext cx="1661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15</a:t>
            </a:r>
            <a:endParaRPr lang="en-US" sz="2400" dirty="0">
              <a:gradFill flip="none" rotWithShape="1">
                <a:gsLst>
                  <a:gs pos="0">
                    <a:srgbClr val="9E0D1B"/>
                  </a:gs>
                  <a:gs pos="100000">
                    <a:srgbClr val="391935"/>
                  </a:gs>
                </a:gsLst>
                <a:path path="shape">
                  <a:fillToRect l="50000" t="50000" r="50000" b="50000"/>
                </a:path>
                <a:tileRect/>
              </a:gradFill>
              <a:latin typeface="Arial Black" panose="020B0A04020102020204" pitchFamily="34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2F8CD61-E18B-6F10-07E2-4484AD1BAB64}"/>
              </a:ext>
            </a:extLst>
          </p:cNvPr>
          <p:cNvGrpSpPr/>
          <p:nvPr/>
        </p:nvGrpSpPr>
        <p:grpSpPr>
          <a:xfrm>
            <a:off x="-334765" y="2468664"/>
            <a:ext cx="780305" cy="1920672"/>
            <a:chOff x="-270578" y="3337703"/>
            <a:chExt cx="780305" cy="192067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6925C5-D1FC-4B8C-BAE2-10C14CE4A8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rgbClr val="9E0D1B"/>
                  </a:gs>
                  <a:gs pos="99000">
                    <a:srgbClr val="6D1026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08B2EA3-ED01-4753-CA78-C89B89E4AD53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D8A1754-0E86-B948-0DF1-EA941DC2C3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DBC1041-49C3-25A5-E457-7D2918CF3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FB0D3A4-38B4-503A-1880-4C90C8EA43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069CCB97-4C17-9DA6-277D-A5D2AF8B4E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3B59E2C-7F0E-3B2C-BA22-0EFBA8CE33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11E9E42-4E78-4F00-BA5E-8894864F86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C2D1695-34A2-BC86-2A15-0E9F49E1AB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8A081BD-00DC-6BE5-B7B4-9B11447625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6B42D30-2B24-BA1D-3E9B-BA771434F0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AA9AD6A6-C9F6-9DBE-0DF2-39FE2BEFD7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rgbClr val="9E0D1B"/>
                    </a:gs>
                    <a:gs pos="99000">
                      <a:srgbClr val="6D1026"/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C93E6E8-616B-C8F5-4BCF-BB76B6255B47}"/>
              </a:ext>
            </a:extLst>
          </p:cNvPr>
          <p:cNvGrpSpPr/>
          <p:nvPr/>
        </p:nvGrpSpPr>
        <p:grpSpPr>
          <a:xfrm flipH="1">
            <a:off x="11638739" y="2206335"/>
            <a:ext cx="833122" cy="1920672"/>
            <a:chOff x="-270578" y="3337703"/>
            <a:chExt cx="780305" cy="1920672"/>
          </a:xfrm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170CB38-C5E8-A7B4-E2DB-E56FB011E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0578" y="4216625"/>
              <a:ext cx="541155" cy="0"/>
            </a:xfrm>
            <a:prstGeom prst="line">
              <a:avLst/>
            </a:prstGeom>
            <a:ln>
              <a:gradFill>
                <a:gsLst>
                  <a:gs pos="0">
                    <a:schemeClr val="bg1">
                      <a:lumMod val="75000"/>
                    </a:schemeClr>
                  </a:gs>
                  <a:gs pos="99000">
                    <a:schemeClr val="bg1">
                      <a:lumMod val="75000"/>
                    </a:schemeClr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E3F00811-060F-05C6-EC4F-724295EA9334}"/>
                </a:ext>
              </a:extLst>
            </p:cNvPr>
            <p:cNvGrpSpPr/>
            <p:nvPr/>
          </p:nvGrpSpPr>
          <p:grpSpPr>
            <a:xfrm>
              <a:off x="-183760" y="3337703"/>
              <a:ext cx="693487" cy="1920672"/>
              <a:chOff x="-183760" y="3337703"/>
              <a:chExt cx="693487" cy="1920672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B27DD713-B2DE-762E-4761-C0BBB6D361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577" y="4064878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92877C38-E363-57EF-C3E7-5D63C2B49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718" y="3478291"/>
                <a:ext cx="0" cy="289560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80AB306F-4045-E230-07B7-1566554268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6112" y="3881955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7D685F76-4DE8-4842-4B8B-2BFF67A99D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16674" y="3767851"/>
                <a:ext cx="101018" cy="1141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2DB5EAB-8B35-BFD1-BA01-FCFCDD1320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674" y="3337703"/>
                <a:ext cx="171402" cy="15174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8B91AB3-49C0-A819-48C0-F541AE84A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36023" y="4343279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DDE1ADF5-2625-F4C5-F75F-CEA4E3A11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984" y="4329368"/>
                <a:ext cx="0" cy="189727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BDB22E7-F1E9-166B-8899-6ADDDE5868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1520" y="4498862"/>
                <a:ext cx="228207" cy="202038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2512FDFE-B267-F49E-10ED-669879BF46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-183760" y="4526751"/>
                <a:ext cx="454354" cy="513204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FDAEFDD-C0D4-1E18-62B1-AAEEA4E5D6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577" y="5034374"/>
                <a:ext cx="0" cy="224001"/>
              </a:xfrm>
              <a:prstGeom prst="line">
                <a:avLst/>
              </a:prstGeom>
              <a:ln>
                <a:gradFill>
                  <a:gsLst>
                    <a:gs pos="0">
                      <a:schemeClr val="bg1">
                        <a:lumMod val="75000"/>
                      </a:schemeClr>
                    </a:gs>
                    <a:gs pos="99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  <a:headEnd type="oval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D2DACD81-ACC6-F67E-27EA-1248AE575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97" y="4281947"/>
            <a:ext cx="3382715" cy="1904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3C7AAA-2F64-DA2C-82DA-3486EBDA800F}"/>
              </a:ext>
            </a:extLst>
          </p:cNvPr>
          <p:cNvSpPr txBox="1"/>
          <p:nvPr/>
        </p:nvSpPr>
        <p:spPr>
          <a:xfrm>
            <a:off x="2166109" y="2830528"/>
            <a:ext cx="7816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Control 2 Motors, Using dabble joystick</a:t>
            </a:r>
          </a:p>
          <a:p>
            <a:pPr algn="ctr"/>
            <a:endParaRPr lang="en-US" sz="2000" b="1" dirty="0">
              <a:solidFill>
                <a:srgbClr val="5D2462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000" b="1" dirty="0">
                <a:solidFill>
                  <a:srgbClr val="5D2462"/>
                </a:solidFill>
                <a:latin typeface="Arial Black" panose="020B0A04020102020204" pitchFamily="34" charset="0"/>
              </a:rPr>
              <a:t>Try on simulation first, then hardware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FF76D7-9B7F-A97D-DFB2-5CEF2A6CB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044" y="5728720"/>
            <a:ext cx="2980185" cy="10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27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374B-4DB2-1F83-50A9-923F99C1D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10">
            <a:extLst>
              <a:ext uri="{FF2B5EF4-FFF2-40B4-BE49-F238E27FC236}">
                <a16:creationId xmlns:a16="http://schemas.microsoft.com/office/drawing/2014/main" id="{300172F5-1210-B89D-A4C3-D636C5432E4B}"/>
              </a:ext>
            </a:extLst>
          </p:cNvPr>
          <p:cNvSpPr/>
          <p:nvPr/>
        </p:nvSpPr>
        <p:spPr>
          <a:xfrm>
            <a:off x="1238639" y="5539529"/>
            <a:ext cx="12362206" cy="348546"/>
          </a:xfrm>
          <a:prstGeom prst="rect">
            <a:avLst/>
          </a:prstGeom>
          <a:gradFill flip="none" rotWithShape="1">
            <a:gsLst>
              <a:gs pos="100000">
                <a:srgbClr val="4F1935"/>
              </a:gs>
              <a:gs pos="0">
                <a:srgbClr val="93061A"/>
              </a:gs>
              <a:gs pos="52000">
                <a:srgbClr val="431A3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346D2D7-34EE-5DEA-D28F-A22C537521DE}"/>
              </a:ext>
            </a:extLst>
          </p:cNvPr>
          <p:cNvGrpSpPr/>
          <p:nvPr/>
        </p:nvGrpSpPr>
        <p:grpSpPr>
          <a:xfrm>
            <a:off x="-2359017" y="3701281"/>
            <a:ext cx="4151476" cy="3444240"/>
            <a:chOff x="-2359017" y="3701281"/>
            <a:chExt cx="4151476" cy="344424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95C219FA-D05A-9BC6-A8B5-8540A06CAE70}"/>
                </a:ext>
              </a:extLst>
            </p:cNvPr>
            <p:cNvSpPr/>
            <p:nvPr/>
          </p:nvSpPr>
          <p:spPr>
            <a:xfrm rot="2700000">
              <a:off x="-1941156" y="4716166"/>
              <a:ext cx="3444240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96BEE76-74DC-4DD7-B666-F68E579703EB}"/>
                </a:ext>
              </a:extLst>
            </p:cNvPr>
            <p:cNvSpPr/>
            <p:nvPr/>
          </p:nvSpPr>
          <p:spPr>
            <a:xfrm>
              <a:off x="-2359017" y="5105711"/>
              <a:ext cx="3444240" cy="100554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DFF8409-4762-8C79-8189-65CF21532134}"/>
                </a:ext>
              </a:extLst>
            </p:cNvPr>
            <p:cNvSpPr/>
            <p:nvPr/>
          </p:nvSpPr>
          <p:spPr>
            <a:xfrm rot="2700000">
              <a:off x="370583" y="5404016"/>
              <a:ext cx="1429281" cy="1414470"/>
            </a:xfrm>
            <a:prstGeom prst="rect">
              <a:avLst/>
            </a:prstGeom>
            <a:solidFill>
              <a:srgbClr val="8C1E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F4FF7ADD-9A4C-12B9-B371-820DB5E5E046}"/>
              </a:ext>
            </a:extLst>
          </p:cNvPr>
          <p:cNvSpPr/>
          <p:nvPr/>
        </p:nvSpPr>
        <p:spPr>
          <a:xfrm>
            <a:off x="-1" y="5791199"/>
            <a:ext cx="12192001" cy="1066801"/>
          </a:xfrm>
          <a:prstGeom prst="rect">
            <a:avLst/>
          </a:prstGeom>
          <a:gradFill>
            <a:gsLst>
              <a:gs pos="50000">
                <a:srgbClr val="431A35"/>
              </a:gs>
              <a:gs pos="0">
                <a:srgbClr val="391935"/>
              </a:gs>
              <a:gs pos="100000">
                <a:srgbClr val="4F1935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EF7B36-52ED-C98A-6A0E-A4E2659F8822}"/>
              </a:ext>
            </a:extLst>
          </p:cNvPr>
          <p:cNvGrpSpPr/>
          <p:nvPr/>
        </p:nvGrpSpPr>
        <p:grpSpPr>
          <a:xfrm>
            <a:off x="10360666" y="-2978831"/>
            <a:ext cx="4297574" cy="5613977"/>
            <a:chOff x="10360666" y="-2978831"/>
            <a:chExt cx="4297574" cy="561397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84A150E-586B-275D-28DA-53BC71910A69}"/>
                </a:ext>
              </a:extLst>
            </p:cNvPr>
            <p:cNvSpPr/>
            <p:nvPr/>
          </p:nvSpPr>
          <p:spPr>
            <a:xfrm rot="18900000">
              <a:off x="10360666" y="-2978831"/>
              <a:ext cx="3155462" cy="5613977"/>
            </a:xfrm>
            <a:prstGeom prst="rect">
              <a:avLst/>
            </a:prstGeom>
            <a:gradFill>
              <a:gsLst>
                <a:gs pos="100000">
                  <a:srgbClr val="8C1E33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Diagonal Stripe 20">
              <a:extLst>
                <a:ext uri="{FF2B5EF4-FFF2-40B4-BE49-F238E27FC236}">
                  <a16:creationId xmlns:a16="http://schemas.microsoft.com/office/drawing/2014/main" id="{71A316BF-48E2-8B78-ED15-3F9A16220E39}"/>
                </a:ext>
              </a:extLst>
            </p:cNvPr>
            <p:cNvSpPr/>
            <p:nvPr/>
          </p:nvSpPr>
          <p:spPr>
            <a:xfrm rot="18900000">
              <a:off x="11023285" y="-2530347"/>
              <a:ext cx="3634955" cy="3709132"/>
            </a:xfrm>
            <a:prstGeom prst="diagStrip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Diagonal Stripe 22">
              <a:extLst>
                <a:ext uri="{FF2B5EF4-FFF2-40B4-BE49-F238E27FC236}">
                  <a16:creationId xmlns:a16="http://schemas.microsoft.com/office/drawing/2014/main" id="{1249CD2D-E709-6564-96A6-20EAF9D190EE}"/>
                </a:ext>
              </a:extLst>
            </p:cNvPr>
            <p:cNvSpPr/>
            <p:nvPr/>
          </p:nvSpPr>
          <p:spPr>
            <a:xfrm rot="18900000">
              <a:off x="11489477" y="-1456890"/>
              <a:ext cx="2376343" cy="2424836"/>
            </a:xfrm>
            <a:prstGeom prst="diagStripe">
              <a:avLst/>
            </a:prstGeom>
            <a:gradFill>
              <a:gsLst>
                <a:gs pos="100000">
                  <a:srgbClr val="4F2155"/>
                </a:gs>
                <a:gs pos="0">
                  <a:srgbClr val="43152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E031357-FFA3-2CA0-E6F2-AA51F1354EB5}"/>
              </a:ext>
            </a:extLst>
          </p:cNvPr>
          <p:cNvGrpSpPr/>
          <p:nvPr/>
        </p:nvGrpSpPr>
        <p:grpSpPr>
          <a:xfrm>
            <a:off x="9275573" y="4569604"/>
            <a:ext cx="2916427" cy="811781"/>
            <a:chOff x="9296400" y="4539482"/>
            <a:chExt cx="2916427" cy="8117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ED5EE25-D404-EAD3-8B2B-5373007A3D72}"/>
                </a:ext>
              </a:extLst>
            </p:cNvPr>
            <p:cNvGrpSpPr/>
            <p:nvPr/>
          </p:nvGrpSpPr>
          <p:grpSpPr>
            <a:xfrm>
              <a:off x="9629530" y="4539482"/>
              <a:ext cx="2471030" cy="487680"/>
              <a:chOff x="6703450" y="4465320"/>
              <a:chExt cx="2471030" cy="48768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0733F4E9-EEE1-7269-507A-5A6EBEC082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76457" y="4465320"/>
                <a:ext cx="1098023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C36EE72-E92B-0C7D-DC27-C06954C82B8C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14058602-4D2D-7D25-BD05-C825AD35BAFC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A4078E9-4072-D422-8876-3985102FC9BC}"/>
                </a:ext>
              </a:extLst>
            </p:cNvPr>
            <p:cNvGrpSpPr/>
            <p:nvPr/>
          </p:nvGrpSpPr>
          <p:grpSpPr>
            <a:xfrm>
              <a:off x="9296400" y="4691882"/>
              <a:ext cx="2916427" cy="487680"/>
              <a:chOff x="6217920" y="4465320"/>
              <a:chExt cx="2916427" cy="48768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BE56C3B-36FE-F50F-35F4-4E478F7F87BF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B1A14FF-EE9D-AE3B-764D-DBBE1B72A822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FBFD2ACF-2960-235F-F0E0-D494D74B4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17920" y="4953000"/>
                <a:ext cx="122830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88B0DB2-B5D0-7B1F-930A-62B8B324F67D}"/>
                </a:ext>
              </a:extLst>
            </p:cNvPr>
            <p:cNvGrpSpPr/>
            <p:nvPr/>
          </p:nvGrpSpPr>
          <p:grpSpPr>
            <a:xfrm>
              <a:off x="11072110" y="5009052"/>
              <a:ext cx="720584" cy="301399"/>
              <a:chOff x="8413763" y="4465320"/>
              <a:chExt cx="720584" cy="301399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03B689-F4CD-D1C2-567D-3D41FE2B2E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99067" y="4465320"/>
                <a:ext cx="33528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7ABD61-82DF-EDB3-886C-1FF1B7FABD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13763" y="4465320"/>
                <a:ext cx="389500" cy="301399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68078D3-2D2B-BF16-5CD8-5801CA82710A}"/>
                </a:ext>
              </a:extLst>
            </p:cNvPr>
            <p:cNvGrpSpPr/>
            <p:nvPr/>
          </p:nvGrpSpPr>
          <p:grpSpPr>
            <a:xfrm>
              <a:off x="10064553" y="4855461"/>
              <a:ext cx="1875967" cy="495802"/>
              <a:chOff x="7258380" y="4465320"/>
              <a:chExt cx="1875967" cy="495802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4B107AE-2E1C-7687-401C-66611DA251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26229" y="4465320"/>
                <a:ext cx="508118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312C2B1-DE8A-F63D-A541-3FD980CB093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5996" y="4465320"/>
                <a:ext cx="639493" cy="494845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9495CAA-0C76-E6E4-8935-19128EA772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58380" y="4961122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642A70"/>
                    </a:gs>
                    <a:gs pos="52000">
                      <a:srgbClr val="642A70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1976F70-A41B-1647-D616-CCB06CB4DBA5}"/>
              </a:ext>
            </a:extLst>
          </p:cNvPr>
          <p:cNvGrpSpPr/>
          <p:nvPr/>
        </p:nvGrpSpPr>
        <p:grpSpPr>
          <a:xfrm>
            <a:off x="-64382" y="161494"/>
            <a:ext cx="1930715" cy="951118"/>
            <a:chOff x="-76201" y="451054"/>
            <a:chExt cx="1930715" cy="951118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469875-4348-4974-4CCC-D8A43399BB18}"/>
                </a:ext>
              </a:extLst>
            </p:cNvPr>
            <p:cNvGrpSpPr/>
            <p:nvPr/>
          </p:nvGrpSpPr>
          <p:grpSpPr>
            <a:xfrm flipH="1" flipV="1">
              <a:off x="-1" y="1036309"/>
              <a:ext cx="1287857" cy="365863"/>
              <a:chOff x="7446224" y="4465320"/>
              <a:chExt cx="1688123" cy="48768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087F403-F8E1-56CF-7D20-E0291EC8B2DA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93E1DF3-9EFD-F0D1-C092-2B0F32176E69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EA2A748-E396-E472-4155-3FE68C2CC9AB}"/>
                </a:ext>
              </a:extLst>
            </p:cNvPr>
            <p:cNvGrpSpPr/>
            <p:nvPr/>
          </p:nvGrpSpPr>
          <p:grpSpPr>
            <a:xfrm flipH="1" flipV="1">
              <a:off x="-11820" y="451054"/>
              <a:ext cx="628295" cy="365863"/>
              <a:chOff x="8310778" y="4465320"/>
              <a:chExt cx="823569" cy="487680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53E78DAF-FB3E-6AF6-5DA7-33D77CB23F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925125" y="4465320"/>
                <a:ext cx="209222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491CE2D-E4E4-3A0E-77FC-B845C270DE8E}"/>
                  </a:ext>
                </a:extLst>
              </p:cNvPr>
              <p:cNvCxnSpPr/>
              <p:nvPr/>
            </p:nvCxnSpPr>
            <p:spPr>
              <a:xfrm flipH="1">
                <a:off x="8310778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F23D975-2F98-ABC1-B208-4EAC57A6E234}"/>
                </a:ext>
              </a:extLst>
            </p:cNvPr>
            <p:cNvGrpSpPr/>
            <p:nvPr/>
          </p:nvGrpSpPr>
          <p:grpSpPr>
            <a:xfrm flipH="1" flipV="1">
              <a:off x="-76201" y="767777"/>
              <a:ext cx="910940" cy="172896"/>
              <a:chOff x="7890243" y="4465320"/>
              <a:chExt cx="1194061" cy="23046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5956E48-A9E6-2E9A-D120-971232D75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176344" y="4465320"/>
                <a:ext cx="90796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CC6AB4D-EB38-FD38-B36A-4A403F7316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890243" y="4465320"/>
                <a:ext cx="297828" cy="230463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EE4430B-1820-AD76-3BF6-C312DA803D91}"/>
                </a:ext>
              </a:extLst>
            </p:cNvPr>
            <p:cNvGrpSpPr/>
            <p:nvPr/>
          </p:nvGrpSpPr>
          <p:grpSpPr>
            <a:xfrm flipH="1" flipV="1">
              <a:off x="0" y="878792"/>
              <a:ext cx="1854514" cy="365863"/>
              <a:chOff x="6703450" y="4465320"/>
              <a:chExt cx="2430897" cy="48768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7341D99-60CF-6E08-05C3-AA7B12719BDC}"/>
                  </a:ext>
                </a:extLst>
              </p:cNvPr>
              <p:cNvCxnSpPr/>
              <p:nvPr/>
            </p:nvCxnSpPr>
            <p:spPr>
              <a:xfrm flipH="1">
                <a:off x="8076457" y="4465320"/>
                <a:ext cx="1057890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6A5ED365-F3B3-D86A-237D-DE9502FC235A}"/>
                  </a:ext>
                </a:extLst>
              </p:cNvPr>
              <p:cNvCxnSpPr/>
              <p:nvPr/>
            </p:nvCxnSpPr>
            <p:spPr>
              <a:xfrm flipH="1">
                <a:off x="7446224" y="4465320"/>
                <a:ext cx="630233" cy="48768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B8539E7-5412-FF06-6058-6497A91E2858}"/>
                  </a:ext>
                </a:extLst>
              </p:cNvPr>
              <p:cNvCxnSpPr/>
              <p:nvPr/>
            </p:nvCxnSpPr>
            <p:spPr>
              <a:xfrm flipH="1">
                <a:off x="6703450" y="4953000"/>
                <a:ext cx="742774" cy="0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647CC04-A1D7-F3A4-1978-0A1A879282C4}"/>
                </a:ext>
              </a:extLst>
            </p:cNvPr>
            <p:cNvGrpSpPr/>
            <p:nvPr/>
          </p:nvGrpSpPr>
          <p:grpSpPr>
            <a:xfrm>
              <a:off x="-11820" y="604191"/>
              <a:ext cx="1544905" cy="482947"/>
              <a:chOff x="26280" y="516902"/>
              <a:chExt cx="1544905" cy="482947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0985D31-5680-4F5E-BDF9-62FEC623940B}"/>
                  </a:ext>
                </a:extLst>
              </p:cNvPr>
              <p:cNvGrpSpPr/>
              <p:nvPr/>
            </p:nvGrpSpPr>
            <p:grpSpPr>
              <a:xfrm flipH="1" flipV="1">
                <a:off x="26280" y="633986"/>
                <a:ext cx="1391039" cy="365863"/>
                <a:chOff x="7264572" y="4465320"/>
                <a:chExt cx="1823374" cy="48768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FED4348B-12C4-1C45-6F04-EDC375CD9E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8076457" y="4465320"/>
                  <a:ext cx="1011489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8CFC49E-13F5-38AC-4D53-A825033B5CCC}"/>
                    </a:ext>
                  </a:extLst>
                </p:cNvPr>
                <p:cNvCxnSpPr/>
                <p:nvPr/>
              </p:nvCxnSpPr>
              <p:spPr>
                <a:xfrm flipH="1">
                  <a:off x="7446224" y="4465320"/>
                  <a:ext cx="630233" cy="48768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8065A149-185E-1B9B-A8B5-931C6EA98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264572" y="4953000"/>
                  <a:ext cx="199765" cy="0"/>
                </a:xfrm>
                <a:prstGeom prst="line">
                  <a:avLst/>
                </a:prstGeom>
                <a:ln>
                  <a:gradFill>
                    <a:gsLst>
                      <a:gs pos="0">
                        <a:srgbClr val="4F1935"/>
                      </a:gs>
                      <a:gs pos="100000">
                        <a:srgbClr val="391935"/>
                      </a:gs>
                    </a:gsLst>
                    <a:lin ang="5400000" scaled="1"/>
                  </a:gra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C978096-4DE7-7BB5-8BA5-DE8239DCA6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17319" y="516902"/>
                <a:ext cx="153866" cy="117084"/>
              </a:xfrm>
              <a:prstGeom prst="line">
                <a:avLst/>
              </a:prstGeom>
              <a:ln>
                <a:gradFill>
                  <a:gsLst>
                    <a:gs pos="0">
                      <a:srgbClr val="4F1935"/>
                    </a:gs>
                    <a:gs pos="100000">
                      <a:srgbClr val="391935"/>
                    </a:gs>
                  </a:gsLst>
                  <a:lin ang="5400000" scaled="1"/>
                </a:gradFill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C6E90F9-D7F8-299A-4D21-1833B8116B37}"/>
              </a:ext>
            </a:extLst>
          </p:cNvPr>
          <p:cNvGrpSpPr/>
          <p:nvPr/>
        </p:nvGrpSpPr>
        <p:grpSpPr>
          <a:xfrm>
            <a:off x="1238639" y="5157866"/>
            <a:ext cx="1176918" cy="315215"/>
            <a:chOff x="1238639" y="5157866"/>
            <a:chExt cx="1176918" cy="315215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CCB2BC2-15C3-3A53-138E-0E5C565B71D2}"/>
                </a:ext>
              </a:extLst>
            </p:cNvPr>
            <p:cNvCxnSpPr>
              <a:cxnSpLocks/>
            </p:cNvCxnSpPr>
            <p:nvPr/>
          </p:nvCxnSpPr>
          <p:spPr>
            <a:xfrm>
              <a:off x="2292096" y="5256314"/>
              <a:ext cx="123461" cy="123461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79AD04F-07EE-E4E1-DA82-83DC37EC89E1}"/>
                </a:ext>
              </a:extLst>
            </p:cNvPr>
            <p:cNvCxnSpPr>
              <a:cxnSpLocks/>
            </p:cNvCxnSpPr>
            <p:nvPr/>
          </p:nvCxnSpPr>
          <p:spPr>
            <a:xfrm>
              <a:off x="1238639" y="5157866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0DFAE4B-DFEA-62DA-2CFB-3DA6B0B3AB41}"/>
                </a:ext>
              </a:extLst>
            </p:cNvPr>
            <p:cNvCxnSpPr>
              <a:cxnSpLocks/>
            </p:cNvCxnSpPr>
            <p:nvPr/>
          </p:nvCxnSpPr>
          <p:spPr>
            <a:xfrm>
              <a:off x="1391039" y="5256314"/>
              <a:ext cx="901057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CBA72-05C9-C12D-DF91-74C29E054ACD}"/>
                </a:ext>
              </a:extLst>
            </p:cNvPr>
            <p:cNvCxnSpPr>
              <a:cxnSpLocks/>
            </p:cNvCxnSpPr>
            <p:nvPr/>
          </p:nvCxnSpPr>
          <p:spPr>
            <a:xfrm>
              <a:off x="1519436" y="5369449"/>
              <a:ext cx="620260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E103326-6092-451D-2BA2-CA8EA43F1FB2}"/>
                </a:ext>
              </a:extLst>
            </p:cNvPr>
            <p:cNvCxnSpPr>
              <a:cxnSpLocks/>
            </p:cNvCxnSpPr>
            <p:nvPr/>
          </p:nvCxnSpPr>
          <p:spPr>
            <a:xfrm>
              <a:off x="1661558" y="5473081"/>
              <a:ext cx="272788" cy="0"/>
            </a:xfrm>
            <a:prstGeom prst="line">
              <a:avLst/>
            </a:prstGeom>
            <a:ln>
              <a:gradFill>
                <a:gsLst>
                  <a:gs pos="0">
                    <a:srgbClr val="642A70"/>
                  </a:gs>
                  <a:gs pos="100000">
                    <a:srgbClr val="9B41AD"/>
                  </a:gs>
                </a:gsLst>
                <a:lin ang="5400000" scaled="1"/>
              </a:gra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9" name="Picture 138">
            <a:extLst>
              <a:ext uri="{FF2B5EF4-FFF2-40B4-BE49-F238E27FC236}">
                <a16:creationId xmlns:a16="http://schemas.microsoft.com/office/drawing/2014/main" id="{6242C03D-EACF-F936-ECF7-E39C77F73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36" y="280656"/>
            <a:ext cx="4388511" cy="1016729"/>
          </a:xfrm>
          <a:prstGeom prst="rect">
            <a:avLst/>
          </a:prstGeom>
        </p:spPr>
      </p:pic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D120509-4614-6815-A533-1C7CF398A8B3}"/>
              </a:ext>
            </a:extLst>
          </p:cNvPr>
          <p:cNvCxnSpPr>
            <a:cxnSpLocks/>
          </p:cNvCxnSpPr>
          <p:nvPr/>
        </p:nvCxnSpPr>
        <p:spPr>
          <a:xfrm>
            <a:off x="5454539" y="405841"/>
            <a:ext cx="0" cy="732644"/>
          </a:xfrm>
          <a:prstGeom prst="line">
            <a:avLst/>
          </a:prstGeom>
          <a:ln>
            <a:gradFill>
              <a:gsLst>
                <a:gs pos="0">
                  <a:srgbClr val="391935">
                    <a:alpha val="35000"/>
                  </a:srgbClr>
                </a:gs>
                <a:gs pos="100000">
                  <a:srgbClr val="93061A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BD16E5D4-2750-EB7C-6BAB-610AD3205801}"/>
              </a:ext>
            </a:extLst>
          </p:cNvPr>
          <p:cNvSpPr txBox="1"/>
          <p:nvPr/>
        </p:nvSpPr>
        <p:spPr>
          <a:xfrm>
            <a:off x="628294" y="1540689"/>
            <a:ext cx="62394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gradFill flip="none" rotWithShape="1">
                  <a:gsLst>
                    <a:gs pos="0">
                      <a:srgbClr val="9E0D1B"/>
                    </a:gs>
                    <a:gs pos="100000">
                      <a:srgbClr val="6D1026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Thank </a:t>
            </a:r>
            <a:r>
              <a:rPr lang="en-US" sz="7200" dirty="0">
                <a:gradFill flip="none" rotWithShape="1">
                  <a:gsLst>
                    <a:gs pos="0">
                      <a:srgbClr val="9E0D1B"/>
                    </a:gs>
                    <a:gs pos="91000">
                      <a:srgbClr val="042433"/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Arial Black" panose="020B0A04020102020204" pitchFamily="34" charset="0"/>
              </a:rPr>
              <a:t>You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8B69B37-6318-2C5B-EFC3-67AA9739176F}"/>
              </a:ext>
            </a:extLst>
          </p:cNvPr>
          <p:cNvCxnSpPr>
            <a:cxnSpLocks/>
          </p:cNvCxnSpPr>
          <p:nvPr/>
        </p:nvCxnSpPr>
        <p:spPr>
          <a:xfrm>
            <a:off x="732952" y="2767447"/>
            <a:ext cx="1756171" cy="0"/>
          </a:xfrm>
          <a:prstGeom prst="line">
            <a:avLst/>
          </a:prstGeom>
          <a:ln w="47625">
            <a:gradFill>
              <a:gsLst>
                <a:gs pos="0">
                  <a:srgbClr val="9E0D1B"/>
                </a:gs>
                <a:gs pos="100000">
                  <a:srgbClr val="39193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79DAA5-6113-4712-26A5-6C7C44076D09}"/>
              </a:ext>
            </a:extLst>
          </p:cNvPr>
          <p:cNvSpPr/>
          <p:nvPr/>
        </p:nvSpPr>
        <p:spPr>
          <a:xfrm>
            <a:off x="7398946" y="1781221"/>
            <a:ext cx="2644779" cy="2644779"/>
          </a:xfrm>
          <a:prstGeom prst="roundRect">
            <a:avLst/>
          </a:prstGeom>
          <a:noFill/>
          <a:ln w="47625">
            <a:gradFill>
              <a:gsLst>
                <a:gs pos="0">
                  <a:srgbClr val="6D1026"/>
                </a:gs>
                <a:gs pos="100000">
                  <a:srgbClr val="042433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073F4-A491-71C7-AD7E-808404F94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08" y="2924120"/>
            <a:ext cx="4358466" cy="2137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C49351-6248-085C-3B6A-4E902959D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863" y="5678213"/>
            <a:ext cx="3997830" cy="108622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A2B3E7-F0B0-B342-C3BE-685CA6BFF0C9}"/>
              </a:ext>
            </a:extLst>
          </p:cNvPr>
          <p:cNvCxnSpPr>
            <a:cxnSpLocks/>
          </p:cNvCxnSpPr>
          <p:nvPr/>
        </p:nvCxnSpPr>
        <p:spPr>
          <a:xfrm>
            <a:off x="7995608" y="5971857"/>
            <a:ext cx="0" cy="7326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9FB0B5B-B906-21CD-73B5-190C7BE5C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371" y="5747326"/>
            <a:ext cx="2980185" cy="10856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BF10DD-20BF-E552-E4C4-E06D19EBB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939" y="224024"/>
            <a:ext cx="2876371" cy="104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9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1444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Agency FB</vt:lpstr>
      <vt:lpstr>Aptos</vt:lpstr>
      <vt:lpstr>Aptos Black</vt:lpstr>
      <vt:lpstr>Aptos Display</vt:lpstr>
      <vt:lpstr>Arial</vt:lpstr>
      <vt:lpstr>Arial Black</vt:lpstr>
      <vt:lpstr>BankGothic Md BT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MARAWAN 120250186</dc:creator>
  <cp:lastModifiedBy>MARAWAN 120250186</cp:lastModifiedBy>
  <cp:revision>7</cp:revision>
  <dcterms:created xsi:type="dcterms:W3CDTF">2026-09-23T21:50:06Z</dcterms:created>
  <dcterms:modified xsi:type="dcterms:W3CDTF">2026-09-24T23:39:51Z</dcterms:modified>
</cp:coreProperties>
</file>